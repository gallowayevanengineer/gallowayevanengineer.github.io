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sldIdLst>
    <p:sldId id="256" r:id="rId5"/>
    <p:sldId id="258" r:id="rId6"/>
    <p:sldId id="284" r:id="rId7"/>
    <p:sldId id="273" r:id="rId8"/>
    <p:sldId id="282" r:id="rId9"/>
    <p:sldId id="283" r:id="rId10"/>
    <p:sldId id="267" r:id="rId11"/>
    <p:sldId id="294" r:id="rId12"/>
    <p:sldId id="269" r:id="rId13"/>
    <p:sldId id="290" r:id="rId14"/>
    <p:sldId id="286" r:id="rId15"/>
    <p:sldId id="292" r:id="rId16"/>
    <p:sldId id="280" r:id="rId17"/>
    <p:sldId id="268" r:id="rId18"/>
    <p:sldId id="288" r:id="rId19"/>
    <p:sldId id="265" r:id="rId20"/>
    <p:sldId id="261" r:id="rId21"/>
    <p:sldId id="291" r:id="rId22"/>
    <p:sldId id="287" r:id="rId23"/>
    <p:sldId id="285" r:id="rId24"/>
    <p:sldId id="257" r:id="rId25"/>
    <p:sldId id="270" r:id="rId26"/>
    <p:sldId id="274" r:id="rId27"/>
    <p:sldId id="271" r:id="rId28"/>
    <p:sldId id="272" r:id="rId29"/>
    <p:sldId id="29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6D6C23-78C0-331E-32DF-62B965B4D980}" name="Huynh, Alex" initials="AH" userId="S::huynha1@rose-hulman.edu::a90e358b-27e3-4cb7-bfd0-942dfe1ba8df" providerId="AD"/>
  <p188:author id="{1A0CDA38-1AF8-7CA1-B17B-CE6AE84B99DA}" name="Galloway, Evan" initials="EG" userId="S::gallowem@rose-hulman.edu::370fb842-1e01-484d-88c4-228d2d5f86b4" providerId="AD"/>
  <p188:author id="{C84D4962-8594-0C62-68DE-A9E16B678C97}" name="Patterson, Tyson" initials="TP" userId="S::pattertj@rose-hulman.edu::13a342dc-722c-4f51-b47e-570bfc335d73" providerId="AD"/>
  <p188:author id="{05835A81-9787-0980-B48D-55D0924C5978}" name="Loveland, Dale" initials="DL" userId="S::loveladr@rose-hulman.edu::355a9dba-3ef8-4370-9b40-cb3a23fb065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rosehulman-my.sharepoint.com/personal/gallowem_rose-hulman_edu/Documents/me321_Project_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rosehulman-my.sharepoint.com/personal/gallowem_rose-hulman_edu/Documents/me321_Project_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Sheet1!$B$50:$B$57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Sheet1!$C$50:$C$57</c:f>
              <c:numCache>
                <c:formatCode>0.00</c:formatCode>
                <c:ptCount val="8"/>
                <c:pt idx="0">
                  <c:v>8.5</c:v>
                </c:pt>
                <c:pt idx="1">
                  <c:v>7.7</c:v>
                </c:pt>
                <c:pt idx="2">
                  <c:v>7.6</c:v>
                </c:pt>
                <c:pt idx="3">
                  <c:v>7.5</c:v>
                </c:pt>
                <c:pt idx="4">
                  <c:v>8.3000000000000007</c:v>
                </c:pt>
                <c:pt idx="5">
                  <c:v>8</c:v>
                </c:pt>
                <c:pt idx="6">
                  <c:v>7.5</c:v>
                </c:pt>
                <c:pt idx="7">
                  <c:v>7.6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D7C-4824-8E99-C92ADB34FA8B}"/>
            </c:ext>
          </c:extLst>
        </c:ser>
        <c:ser>
          <c:idx val="1"/>
          <c:order val="1"/>
          <c:tx>
            <c:v>Trendline</c:v>
          </c:tx>
          <c:spPr>
            <a:ln w="19050" cap="rnd">
              <a:solidFill>
                <a:schemeClr val="accent2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Sheet1!$N$45:$N$52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Sheet1!$O$45:$O$52</c:f>
              <c:numCache>
                <c:formatCode>General</c:formatCode>
                <c:ptCount val="8"/>
                <c:pt idx="0">
                  <c:v>7.84</c:v>
                </c:pt>
                <c:pt idx="1">
                  <c:v>7.84</c:v>
                </c:pt>
                <c:pt idx="2">
                  <c:v>7.84</c:v>
                </c:pt>
                <c:pt idx="3">
                  <c:v>7.84</c:v>
                </c:pt>
                <c:pt idx="4">
                  <c:v>7.84</c:v>
                </c:pt>
                <c:pt idx="5">
                  <c:v>7.84</c:v>
                </c:pt>
                <c:pt idx="6">
                  <c:v>7.84</c:v>
                </c:pt>
                <c:pt idx="7">
                  <c:v>7.84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D7C-4824-8E99-C92ADB34FA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11009071"/>
        <c:axId val="1316882544"/>
      </c:scatterChart>
      <c:valAx>
        <c:axId val="1611009071"/>
        <c:scaling>
          <c:orientation val="minMax"/>
          <c:max val="8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Trial Number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6882544"/>
        <c:crosses val="autoZero"/>
        <c:crossBetween val="midCat"/>
      </c:valAx>
      <c:valAx>
        <c:axId val="1316882544"/>
        <c:scaling>
          <c:orientation val="minMax"/>
          <c:max val="10"/>
          <c:min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ϑ</a:t>
                </a:r>
                <a:r>
                  <a:rPr lang="en-US" sz="1600" baseline="0"/>
                  <a:t> (deg)</a:t>
                </a:r>
                <a:endParaRPr lang="en-US" sz="16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1009071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Scale Calibration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0.11242016622922135"/>
                  <c:y val="0.3699537037037037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800" baseline="0" dirty="0"/>
                      <a:t>y = 2.2039x - 0.0012</a:t>
                    </a:r>
                    <a:br>
                      <a:rPr lang="en-US" sz="1800" baseline="0" dirty="0"/>
                    </a:br>
                    <a:r>
                      <a:rPr lang="en-US" sz="1800" baseline="0" dirty="0"/>
                      <a:t>R² = 1</a:t>
                    </a:r>
                    <a:endParaRPr lang="en-US" sz="1800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Sheet1!$B$21:$B$32</c:f>
              <c:numCache>
                <c:formatCode>General</c:formatCode>
                <c:ptCount val="12"/>
                <c:pt idx="0">
                  <c:v>0.01</c:v>
                </c:pt>
                <c:pt idx="1">
                  <c:v>0.02</c:v>
                </c:pt>
                <c:pt idx="2">
                  <c:v>0.05</c:v>
                </c:pt>
                <c:pt idx="3">
                  <c:v>0.1</c:v>
                </c:pt>
                <c:pt idx="4">
                  <c:v>0.5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3.5</c:v>
                </c:pt>
                <c:pt idx="9">
                  <c:v>4.5</c:v>
                </c:pt>
                <c:pt idx="10">
                  <c:v>4.9000000000000004</c:v>
                </c:pt>
              </c:numCache>
            </c:numRef>
          </c:xVal>
          <c:yVal>
            <c:numRef>
              <c:f>Sheet1!$C$21:$C$31</c:f>
              <c:numCache>
                <c:formatCode>0.000</c:formatCode>
                <c:ptCount val="11"/>
                <c:pt idx="0">
                  <c:v>2.5000000000000001E-2</c:v>
                </c:pt>
                <c:pt idx="1">
                  <c:v>0.04</c:v>
                </c:pt>
                <c:pt idx="2">
                  <c:v>0.11</c:v>
                </c:pt>
                <c:pt idx="3">
                  <c:v>0.215</c:v>
                </c:pt>
                <c:pt idx="4">
                  <c:v>1.1000000000000001</c:v>
                </c:pt>
                <c:pt idx="5">
                  <c:v>2.2050000000000001</c:v>
                </c:pt>
                <c:pt idx="6" formatCode="0.00">
                  <c:v>4.41</c:v>
                </c:pt>
                <c:pt idx="7" formatCode="0.00">
                  <c:v>6.61</c:v>
                </c:pt>
                <c:pt idx="8" formatCode="0.00">
                  <c:v>7.71</c:v>
                </c:pt>
                <c:pt idx="9" formatCode="0.00">
                  <c:v>9.9149999999999991</c:v>
                </c:pt>
                <c:pt idx="10" formatCode="0.00">
                  <c:v>10.8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A15-43C7-9218-22F2A7A4BD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7397776"/>
        <c:axId val="1197398736"/>
      </c:scatterChart>
      <c:valAx>
        <c:axId val="11973977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Input (kg)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7398736"/>
        <c:crosses val="autoZero"/>
        <c:crossBetween val="midCat"/>
      </c:valAx>
      <c:valAx>
        <c:axId val="1197398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Output (lbs)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73977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E4CFD3-36C8-496E-818E-8EB473DDBBB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D0CF53-655C-4F78-8826-43C60C6C7B6E}">
      <dgm:prSet phldrT="[Text]" phldr="0"/>
      <dgm:spPr/>
      <dgm:t>
        <a:bodyPr/>
        <a:lstStyle/>
        <a:p>
          <a:r>
            <a:rPr lang="en-US"/>
            <a:t>W</a:t>
          </a:r>
          <a:r>
            <a:rPr lang="en-US" baseline="-25000"/>
            <a:t>G</a:t>
          </a:r>
          <a:endParaRPr lang="en-US"/>
        </a:p>
        <a:p>
          <a:r>
            <a:rPr lang="en-US"/>
            <a:t>0.23x10</a:t>
          </a:r>
          <a:r>
            <a:rPr lang="en-US" baseline="30000"/>
            <a:t>6</a:t>
          </a:r>
          <a:r>
            <a:rPr lang="en-US"/>
            <a:t> psi</a:t>
          </a:r>
        </a:p>
      </dgm:t>
    </dgm:pt>
    <dgm:pt modelId="{925F9024-310E-44F6-8E64-F720E1FF8FE4}" type="parTrans" cxnId="{4A573BFC-B6D7-443A-A202-3DDF165BB0CC}">
      <dgm:prSet/>
      <dgm:spPr/>
      <dgm:t>
        <a:bodyPr/>
        <a:lstStyle/>
        <a:p>
          <a:endParaRPr lang="en-US"/>
        </a:p>
      </dgm:t>
    </dgm:pt>
    <dgm:pt modelId="{E6FCD14F-6F77-426A-A7E4-BA7F729F6A46}" type="sibTrans" cxnId="{4A573BFC-B6D7-443A-A202-3DDF165BB0CC}">
      <dgm:prSet/>
      <dgm:spPr/>
      <dgm:t>
        <a:bodyPr/>
        <a:lstStyle/>
        <a:p>
          <a:endParaRPr lang="en-US"/>
        </a:p>
      </dgm:t>
    </dgm:pt>
    <dgm:pt modelId="{250AE492-65C9-4A02-99B1-B36C08FFBCF7}">
      <dgm:prSet phldrT="[Text]" phldr="0"/>
      <dgm:spPr/>
      <dgm:t>
        <a:bodyPr/>
        <a:lstStyle/>
        <a:p>
          <a:r>
            <a:rPr lang="en-US"/>
            <a:t>W</a:t>
          </a:r>
          <a:r>
            <a:rPr lang="en-US" baseline="-25000"/>
            <a:t>r,rod</a:t>
          </a:r>
        </a:p>
        <a:p>
          <a:r>
            <a:rPr lang="en-US" baseline="0"/>
            <a:t>0.05x10</a:t>
          </a:r>
          <a:r>
            <a:rPr lang="en-US" baseline="30000"/>
            <a:t>6</a:t>
          </a:r>
          <a:r>
            <a:rPr lang="en-US" baseline="0"/>
            <a:t> psi</a:t>
          </a:r>
        </a:p>
      </dgm:t>
    </dgm:pt>
    <dgm:pt modelId="{C79B4607-950B-461E-B7D3-151DB845131B}" type="parTrans" cxnId="{A130A113-F5AC-4441-A156-80F902A559C5}">
      <dgm:prSet/>
      <dgm:spPr/>
      <dgm:t>
        <a:bodyPr/>
        <a:lstStyle/>
        <a:p>
          <a:endParaRPr lang="en-US"/>
        </a:p>
      </dgm:t>
    </dgm:pt>
    <dgm:pt modelId="{320789D9-BA13-470B-82EA-F1AE6B3D7933}" type="sibTrans" cxnId="{A130A113-F5AC-4441-A156-80F902A559C5}">
      <dgm:prSet/>
      <dgm:spPr/>
      <dgm:t>
        <a:bodyPr/>
        <a:lstStyle/>
        <a:p>
          <a:endParaRPr lang="en-US"/>
        </a:p>
      </dgm:t>
    </dgm:pt>
    <dgm:pt modelId="{D1689EF4-9DD2-47D5-9BD1-D8CD1BA65765}">
      <dgm:prSet phldrT="[Text]"/>
      <dgm:spPr/>
      <dgm:t>
        <a:bodyPr/>
        <a:lstStyle/>
        <a:p>
          <a:r>
            <a:rPr lang="en-US"/>
            <a:t>W</a:t>
          </a:r>
          <a:r>
            <a:rPr lang="en-US" baseline="-25000"/>
            <a:t>L,rod</a:t>
          </a:r>
        </a:p>
        <a:p>
          <a:r>
            <a:rPr lang="en-US" baseline="0"/>
            <a:t>0.004x10</a:t>
          </a:r>
          <a:r>
            <a:rPr lang="en-US" baseline="30000"/>
            <a:t>6</a:t>
          </a:r>
          <a:r>
            <a:rPr lang="en-US" baseline="0"/>
            <a:t> psi</a:t>
          </a:r>
        </a:p>
      </dgm:t>
    </dgm:pt>
    <dgm:pt modelId="{9870A59E-897C-4C6C-8FFF-E1EF22A8194F}" type="parTrans" cxnId="{F2A4229E-FC81-42F8-A891-F027EEF00659}">
      <dgm:prSet/>
      <dgm:spPr/>
      <dgm:t>
        <a:bodyPr/>
        <a:lstStyle/>
        <a:p>
          <a:endParaRPr lang="en-US"/>
        </a:p>
      </dgm:t>
    </dgm:pt>
    <dgm:pt modelId="{8FF5F617-F075-4804-B63A-BA3D7B7FE5D2}" type="sibTrans" cxnId="{F2A4229E-FC81-42F8-A891-F027EEF00659}">
      <dgm:prSet/>
      <dgm:spPr/>
      <dgm:t>
        <a:bodyPr/>
        <a:lstStyle/>
        <a:p>
          <a:endParaRPr lang="en-US"/>
        </a:p>
      </dgm:t>
    </dgm:pt>
    <dgm:pt modelId="{1717BD5F-1601-4FDA-AA8E-5772B0E247DF}">
      <dgm:prSet phldrT="[Text]" phldr="0"/>
      <dgm:spPr/>
      <dgm:t>
        <a:bodyPr/>
        <a:lstStyle/>
        <a:p>
          <a:pPr algn="ctr"/>
          <a:r>
            <a:rPr lang="en-US"/>
            <a:t>W</a:t>
          </a:r>
          <a:r>
            <a:rPr lang="en-US" baseline="-25000"/>
            <a:t>r,Disc</a:t>
          </a:r>
          <a:endParaRPr lang="en-US" baseline="0"/>
        </a:p>
        <a:p>
          <a:pPr algn="ctr"/>
          <a:r>
            <a:rPr lang="en-US" baseline="0"/>
            <a:t>&lt;0.001x10</a:t>
          </a:r>
          <a:r>
            <a:rPr lang="en-US" baseline="30000"/>
            <a:t>6</a:t>
          </a:r>
          <a:r>
            <a:rPr lang="en-US" baseline="0"/>
            <a:t> psi</a:t>
          </a:r>
        </a:p>
      </dgm:t>
    </dgm:pt>
    <dgm:pt modelId="{CDD7000C-37ED-42EF-AB1E-8AFD858B10D8}" type="parTrans" cxnId="{61577CD7-9F1A-4D1C-BE5E-D4F51CECA8F7}">
      <dgm:prSet/>
      <dgm:spPr/>
      <dgm:t>
        <a:bodyPr/>
        <a:lstStyle/>
        <a:p>
          <a:endParaRPr lang="en-US"/>
        </a:p>
      </dgm:t>
    </dgm:pt>
    <dgm:pt modelId="{6003BC30-1595-4C45-9A7F-2B1180F2B3EB}" type="sibTrans" cxnId="{61577CD7-9F1A-4D1C-BE5E-D4F51CECA8F7}">
      <dgm:prSet/>
      <dgm:spPr/>
      <dgm:t>
        <a:bodyPr/>
        <a:lstStyle/>
        <a:p>
          <a:endParaRPr lang="en-US"/>
        </a:p>
      </dgm:t>
    </dgm:pt>
    <dgm:pt modelId="{E5A984BF-BFF7-41A7-BA1F-2F0A4DF361DA}">
      <dgm:prSet phldrT="[Text]"/>
      <dgm:spPr/>
      <dgm:t>
        <a:bodyPr/>
        <a:lstStyle/>
        <a:p>
          <a:r>
            <a:rPr lang="en-US"/>
            <a:t>W</a:t>
          </a:r>
          <a:r>
            <a:rPr lang="el-GR" b="0" i="0" baseline="-25000"/>
            <a:t>θ</a:t>
          </a:r>
          <a:endParaRPr lang="en-US" b="0" i="0" baseline="-25000"/>
        </a:p>
        <a:p>
          <a:r>
            <a:rPr lang="en-US" baseline="0"/>
            <a:t>0.16x10</a:t>
          </a:r>
          <a:r>
            <a:rPr lang="en-US" baseline="30000"/>
            <a:t>6</a:t>
          </a:r>
          <a:r>
            <a:rPr lang="en-US" baseline="0"/>
            <a:t> psi</a:t>
          </a:r>
        </a:p>
      </dgm:t>
    </dgm:pt>
    <dgm:pt modelId="{C753BD2C-A39D-47A2-B47A-5266466C2F24}" type="parTrans" cxnId="{500CDF98-0C6D-4E1C-8914-1E479F7954A3}">
      <dgm:prSet/>
      <dgm:spPr/>
      <dgm:t>
        <a:bodyPr/>
        <a:lstStyle/>
        <a:p>
          <a:endParaRPr lang="en-US"/>
        </a:p>
      </dgm:t>
    </dgm:pt>
    <dgm:pt modelId="{6FC8809D-D6F1-4CAA-8193-31D5F774D885}" type="sibTrans" cxnId="{500CDF98-0C6D-4E1C-8914-1E479F7954A3}">
      <dgm:prSet/>
      <dgm:spPr/>
      <dgm:t>
        <a:bodyPr/>
        <a:lstStyle/>
        <a:p>
          <a:endParaRPr lang="en-US"/>
        </a:p>
      </dgm:t>
    </dgm:pt>
    <dgm:pt modelId="{E0CC88CE-A537-46FA-94F2-C59283667D25}">
      <dgm:prSet phldrT="[Text]" phldr="0"/>
      <dgm:spPr/>
      <dgm:t>
        <a:bodyPr/>
        <a:lstStyle/>
        <a:p>
          <a:r>
            <a:rPr lang="en-US" baseline="0"/>
            <a:t>W</a:t>
          </a:r>
          <a:r>
            <a:rPr lang="en-US" b="0" i="0" baseline="-25000"/>
            <a:t>G,rand</a:t>
          </a:r>
        </a:p>
        <a:p>
          <a:r>
            <a:rPr lang="en-US" baseline="0"/>
            <a:t>0.15x10</a:t>
          </a:r>
          <a:r>
            <a:rPr lang="en-US" baseline="30000"/>
            <a:t>5</a:t>
          </a:r>
          <a:r>
            <a:rPr lang="en-US" baseline="0"/>
            <a:t> psi</a:t>
          </a:r>
        </a:p>
      </dgm:t>
    </dgm:pt>
    <dgm:pt modelId="{27B7BD47-D243-4B86-AF46-FBCCAEA8C223}" type="parTrans" cxnId="{63BF784D-278C-45BE-ADD4-D22492359E72}">
      <dgm:prSet/>
      <dgm:spPr/>
      <dgm:t>
        <a:bodyPr/>
        <a:lstStyle/>
        <a:p>
          <a:endParaRPr lang="en-US"/>
        </a:p>
      </dgm:t>
    </dgm:pt>
    <dgm:pt modelId="{C84E5F33-7C62-4C95-8A6D-065F0161DCB1}" type="sibTrans" cxnId="{63BF784D-278C-45BE-ADD4-D22492359E72}">
      <dgm:prSet/>
      <dgm:spPr/>
      <dgm:t>
        <a:bodyPr/>
        <a:lstStyle/>
        <a:p>
          <a:endParaRPr lang="en-US"/>
        </a:p>
      </dgm:t>
    </dgm:pt>
    <dgm:pt modelId="{B49F87D9-D9E5-423A-BE06-AA33B2B30999}">
      <dgm:prSet phldrT="[Text]" phldr="0"/>
      <dgm:spPr/>
      <dgm:t>
        <a:bodyPr/>
        <a:lstStyle/>
        <a:p>
          <a:r>
            <a:rPr lang="en-US"/>
            <a:t>W</a:t>
          </a:r>
          <a:r>
            <a:rPr lang="en-US" baseline="-25000"/>
            <a:t>F</a:t>
          </a:r>
        </a:p>
        <a:p>
          <a:r>
            <a:rPr lang="en-US" baseline="0"/>
            <a:t>0.004x10</a:t>
          </a:r>
          <a:r>
            <a:rPr lang="en-US" baseline="30000"/>
            <a:t>6</a:t>
          </a:r>
          <a:r>
            <a:rPr lang="en-US" baseline="0"/>
            <a:t> psi</a:t>
          </a:r>
        </a:p>
      </dgm:t>
    </dgm:pt>
    <dgm:pt modelId="{8A2010B2-183C-4151-9877-E6DAEB9B7BEB}" type="parTrans" cxnId="{6F01D02B-7BC4-4699-BEFD-95783FC63966}">
      <dgm:prSet/>
      <dgm:spPr/>
      <dgm:t>
        <a:bodyPr/>
        <a:lstStyle/>
        <a:p>
          <a:endParaRPr lang="en-US"/>
        </a:p>
      </dgm:t>
    </dgm:pt>
    <dgm:pt modelId="{97A46392-C5E7-4375-A921-64CD0656F2C0}" type="sibTrans" cxnId="{6F01D02B-7BC4-4699-BEFD-95783FC63966}">
      <dgm:prSet/>
      <dgm:spPr/>
      <dgm:t>
        <a:bodyPr/>
        <a:lstStyle/>
        <a:p>
          <a:endParaRPr lang="en-US"/>
        </a:p>
      </dgm:t>
    </dgm:pt>
    <dgm:pt modelId="{AE5CFB9E-1156-45EB-B5FF-D3C6F58122B9}">
      <dgm:prSet phldrT="[Text]" phldr="0"/>
      <dgm:spPr/>
      <dgm:t>
        <a:bodyPr/>
        <a:lstStyle/>
        <a:p>
          <a:r>
            <a:rPr lang="en-US"/>
            <a:t>W</a:t>
          </a:r>
          <a:r>
            <a:rPr lang="en-US" baseline="-25000"/>
            <a:t>G,sys</a:t>
          </a:r>
        </a:p>
        <a:p>
          <a:r>
            <a:rPr lang="en-US" baseline="0"/>
            <a:t>0.17x10</a:t>
          </a:r>
          <a:r>
            <a:rPr lang="en-US" baseline="30000"/>
            <a:t>6</a:t>
          </a:r>
          <a:r>
            <a:rPr lang="en-US" baseline="0"/>
            <a:t> psi</a:t>
          </a:r>
        </a:p>
      </dgm:t>
    </dgm:pt>
    <dgm:pt modelId="{9721DEB2-137B-4A9C-9FF3-97042082375C}" type="parTrans" cxnId="{0A565F5B-4F4D-43AA-8956-040AAB87C8ED}">
      <dgm:prSet/>
      <dgm:spPr/>
      <dgm:t>
        <a:bodyPr/>
        <a:lstStyle/>
        <a:p>
          <a:endParaRPr lang="en-US"/>
        </a:p>
      </dgm:t>
    </dgm:pt>
    <dgm:pt modelId="{49EAC6A7-E8DD-436C-BD1B-F3322F6DCC4D}" type="sibTrans" cxnId="{0A565F5B-4F4D-43AA-8956-040AAB87C8ED}">
      <dgm:prSet/>
      <dgm:spPr/>
      <dgm:t>
        <a:bodyPr/>
        <a:lstStyle/>
        <a:p>
          <a:endParaRPr lang="en-US"/>
        </a:p>
      </dgm:t>
    </dgm:pt>
    <dgm:pt modelId="{4CCECC76-7D79-41AC-A0D5-722638B00038}" type="pres">
      <dgm:prSet presAssocID="{03E4CFD3-36C8-496E-818E-8EB473DDBB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F20DD76-9A6C-4C1C-BA92-BCDCEE8411FE}" type="pres">
      <dgm:prSet presAssocID="{9AD0CF53-655C-4F78-8826-43C60C6C7B6E}" presName="hierRoot1" presStyleCnt="0"/>
      <dgm:spPr/>
    </dgm:pt>
    <dgm:pt modelId="{5A58A603-78B6-43F3-A4C5-750E30EEE17A}" type="pres">
      <dgm:prSet presAssocID="{9AD0CF53-655C-4F78-8826-43C60C6C7B6E}" presName="composite" presStyleCnt="0"/>
      <dgm:spPr/>
    </dgm:pt>
    <dgm:pt modelId="{E4E77657-D943-4637-B19C-CE3A2E4A7263}" type="pres">
      <dgm:prSet presAssocID="{9AD0CF53-655C-4F78-8826-43C60C6C7B6E}" presName="background" presStyleLbl="node0" presStyleIdx="0" presStyleCnt="1"/>
      <dgm:spPr/>
    </dgm:pt>
    <dgm:pt modelId="{E8377455-DCA0-43A2-9D3B-46576B7487C9}" type="pres">
      <dgm:prSet presAssocID="{9AD0CF53-655C-4F78-8826-43C60C6C7B6E}" presName="text" presStyleLbl="fgAcc0" presStyleIdx="0" presStyleCnt="1" custLinFactNeighborX="-66788" custLinFactNeighborY="-64700">
        <dgm:presLayoutVars>
          <dgm:chPref val="3"/>
        </dgm:presLayoutVars>
      </dgm:prSet>
      <dgm:spPr/>
    </dgm:pt>
    <dgm:pt modelId="{54302419-E1B2-458E-897B-3FEC72A6621F}" type="pres">
      <dgm:prSet presAssocID="{9AD0CF53-655C-4F78-8826-43C60C6C7B6E}" presName="hierChild2" presStyleCnt="0"/>
      <dgm:spPr/>
    </dgm:pt>
    <dgm:pt modelId="{706FED3D-46E9-47B5-A8C7-4E87A8A337F0}" type="pres">
      <dgm:prSet presAssocID="{9721DEB2-137B-4A9C-9FF3-97042082375C}" presName="Name10" presStyleLbl="parChTrans1D2" presStyleIdx="0" presStyleCnt="2"/>
      <dgm:spPr/>
    </dgm:pt>
    <dgm:pt modelId="{E096348A-7B22-48B6-B185-27652E3E92B6}" type="pres">
      <dgm:prSet presAssocID="{AE5CFB9E-1156-45EB-B5FF-D3C6F58122B9}" presName="hierRoot2" presStyleCnt="0"/>
      <dgm:spPr/>
    </dgm:pt>
    <dgm:pt modelId="{7F8A307A-38DB-4098-9376-037DCF920F78}" type="pres">
      <dgm:prSet presAssocID="{AE5CFB9E-1156-45EB-B5FF-D3C6F58122B9}" presName="composite2" presStyleCnt="0"/>
      <dgm:spPr/>
    </dgm:pt>
    <dgm:pt modelId="{BEA181EA-F8DA-4B80-9894-D30997E60AF8}" type="pres">
      <dgm:prSet presAssocID="{AE5CFB9E-1156-45EB-B5FF-D3C6F58122B9}" presName="background2" presStyleLbl="node2" presStyleIdx="0" presStyleCnt="2"/>
      <dgm:spPr/>
    </dgm:pt>
    <dgm:pt modelId="{8F26E9B8-F0C3-46AB-8183-3133CDCB50D7}" type="pres">
      <dgm:prSet presAssocID="{AE5CFB9E-1156-45EB-B5FF-D3C6F58122B9}" presName="text2" presStyleLbl="fgAcc2" presStyleIdx="0" presStyleCnt="2" custLinFactX="-48774" custLinFactNeighborX="-100000" custLinFactNeighborY="-36877">
        <dgm:presLayoutVars>
          <dgm:chPref val="3"/>
        </dgm:presLayoutVars>
      </dgm:prSet>
      <dgm:spPr/>
    </dgm:pt>
    <dgm:pt modelId="{7903A1B9-6462-48F0-A683-8FB9AD412268}" type="pres">
      <dgm:prSet presAssocID="{AE5CFB9E-1156-45EB-B5FF-D3C6F58122B9}" presName="hierChild3" presStyleCnt="0"/>
      <dgm:spPr/>
    </dgm:pt>
    <dgm:pt modelId="{4C1CDAD3-CA2C-43C6-AB99-5692920E4B26}" type="pres">
      <dgm:prSet presAssocID="{8A2010B2-183C-4151-9877-E6DAEB9B7BEB}" presName="Name17" presStyleLbl="parChTrans1D3" presStyleIdx="0" presStyleCnt="5"/>
      <dgm:spPr/>
    </dgm:pt>
    <dgm:pt modelId="{8DCC9794-6F47-454B-A3D3-E1B00ADEC421}" type="pres">
      <dgm:prSet presAssocID="{B49F87D9-D9E5-423A-BE06-AA33B2B30999}" presName="hierRoot3" presStyleCnt="0"/>
      <dgm:spPr/>
    </dgm:pt>
    <dgm:pt modelId="{89CCE682-F186-4278-8C80-991F497EE9FB}" type="pres">
      <dgm:prSet presAssocID="{B49F87D9-D9E5-423A-BE06-AA33B2B30999}" presName="composite3" presStyleCnt="0"/>
      <dgm:spPr/>
    </dgm:pt>
    <dgm:pt modelId="{129A23E1-EDA1-4DFE-A96B-D4E3A3E39B44}" type="pres">
      <dgm:prSet presAssocID="{B49F87D9-D9E5-423A-BE06-AA33B2B30999}" presName="background3" presStyleLbl="node3" presStyleIdx="0" presStyleCnt="5"/>
      <dgm:spPr/>
    </dgm:pt>
    <dgm:pt modelId="{33DE7D90-7FD8-4279-A748-5F31A5C7CEB0}" type="pres">
      <dgm:prSet presAssocID="{B49F87D9-D9E5-423A-BE06-AA33B2B30999}" presName="text3" presStyleLbl="fgAcc3" presStyleIdx="0" presStyleCnt="5" custLinFactNeighborX="-11316" custLinFactNeighborY="-7184">
        <dgm:presLayoutVars>
          <dgm:chPref val="3"/>
        </dgm:presLayoutVars>
      </dgm:prSet>
      <dgm:spPr/>
    </dgm:pt>
    <dgm:pt modelId="{7F0DDD10-0A39-4A14-955D-80D87238BBE5}" type="pres">
      <dgm:prSet presAssocID="{B49F87D9-D9E5-423A-BE06-AA33B2B30999}" presName="hierChild4" presStyleCnt="0"/>
      <dgm:spPr/>
    </dgm:pt>
    <dgm:pt modelId="{0FE79886-D7D1-40A4-A6AB-0B1CFB3CD310}" type="pres">
      <dgm:prSet presAssocID="{CDD7000C-37ED-42EF-AB1E-8AFD858B10D8}" presName="Name17" presStyleLbl="parChTrans1D3" presStyleIdx="1" presStyleCnt="5"/>
      <dgm:spPr/>
    </dgm:pt>
    <dgm:pt modelId="{D49A717D-209B-4543-84A1-1703C4FE41F2}" type="pres">
      <dgm:prSet presAssocID="{1717BD5F-1601-4FDA-AA8E-5772B0E247DF}" presName="hierRoot3" presStyleCnt="0"/>
      <dgm:spPr/>
    </dgm:pt>
    <dgm:pt modelId="{E774080E-DDA0-42D8-BBAA-DE83FB1F01C2}" type="pres">
      <dgm:prSet presAssocID="{1717BD5F-1601-4FDA-AA8E-5772B0E247DF}" presName="composite3" presStyleCnt="0"/>
      <dgm:spPr/>
    </dgm:pt>
    <dgm:pt modelId="{8758C877-C91B-48F4-8B3C-7D84EDB9DC2D}" type="pres">
      <dgm:prSet presAssocID="{1717BD5F-1601-4FDA-AA8E-5772B0E247DF}" presName="background3" presStyleLbl="node3" presStyleIdx="1" presStyleCnt="5"/>
      <dgm:spPr/>
    </dgm:pt>
    <dgm:pt modelId="{E70BA6ED-A06E-4D0B-9826-765498763D99}" type="pres">
      <dgm:prSet presAssocID="{1717BD5F-1601-4FDA-AA8E-5772B0E247DF}" presName="text3" presStyleLbl="fgAcc3" presStyleIdx="1" presStyleCnt="5" custLinFactNeighborX="-14385" custLinFactNeighborY="-7184">
        <dgm:presLayoutVars>
          <dgm:chPref val="3"/>
        </dgm:presLayoutVars>
      </dgm:prSet>
      <dgm:spPr/>
    </dgm:pt>
    <dgm:pt modelId="{4D0F8CED-4FC5-482F-916E-7813D987005F}" type="pres">
      <dgm:prSet presAssocID="{1717BD5F-1601-4FDA-AA8E-5772B0E247DF}" presName="hierChild4" presStyleCnt="0"/>
      <dgm:spPr/>
    </dgm:pt>
    <dgm:pt modelId="{44E8F7CB-CA48-4FEA-A2B5-E6FFB5399F44}" type="pres">
      <dgm:prSet presAssocID="{C79B4607-950B-461E-B7D3-151DB845131B}" presName="Name17" presStyleLbl="parChTrans1D3" presStyleIdx="2" presStyleCnt="5"/>
      <dgm:spPr/>
    </dgm:pt>
    <dgm:pt modelId="{243F2166-6B80-4045-A5F9-E89D7010F39E}" type="pres">
      <dgm:prSet presAssocID="{250AE492-65C9-4A02-99B1-B36C08FFBCF7}" presName="hierRoot3" presStyleCnt="0"/>
      <dgm:spPr/>
    </dgm:pt>
    <dgm:pt modelId="{7B600666-DA0B-4269-824E-C11C522E3B14}" type="pres">
      <dgm:prSet presAssocID="{250AE492-65C9-4A02-99B1-B36C08FFBCF7}" presName="composite3" presStyleCnt="0"/>
      <dgm:spPr/>
    </dgm:pt>
    <dgm:pt modelId="{7F873A59-CC06-46A8-A4A7-3314C3BE2795}" type="pres">
      <dgm:prSet presAssocID="{250AE492-65C9-4A02-99B1-B36C08FFBCF7}" presName="background3" presStyleLbl="node3" presStyleIdx="2" presStyleCnt="5"/>
      <dgm:spPr/>
    </dgm:pt>
    <dgm:pt modelId="{5F128D02-3FA8-4465-BF78-6BAF67EB40FE}" type="pres">
      <dgm:prSet presAssocID="{250AE492-65C9-4A02-99B1-B36C08FFBCF7}" presName="text3" presStyleLbl="fgAcc3" presStyleIdx="2" presStyleCnt="5" custLinFactNeighborX="-19712" custLinFactNeighborY="-7184">
        <dgm:presLayoutVars>
          <dgm:chPref val="3"/>
        </dgm:presLayoutVars>
      </dgm:prSet>
      <dgm:spPr/>
    </dgm:pt>
    <dgm:pt modelId="{FA6553BB-D117-4DA8-A521-A5D187DC8165}" type="pres">
      <dgm:prSet presAssocID="{250AE492-65C9-4A02-99B1-B36C08FFBCF7}" presName="hierChild4" presStyleCnt="0"/>
      <dgm:spPr/>
    </dgm:pt>
    <dgm:pt modelId="{50512C34-776A-43E8-B0FB-779BD700E649}" type="pres">
      <dgm:prSet presAssocID="{9870A59E-897C-4C6C-8FFF-E1EF22A8194F}" presName="Name17" presStyleLbl="parChTrans1D3" presStyleIdx="3" presStyleCnt="5"/>
      <dgm:spPr/>
    </dgm:pt>
    <dgm:pt modelId="{40C51AE8-D731-483E-9F00-184CE609CC3D}" type="pres">
      <dgm:prSet presAssocID="{D1689EF4-9DD2-47D5-9BD1-D8CD1BA65765}" presName="hierRoot3" presStyleCnt="0"/>
      <dgm:spPr/>
    </dgm:pt>
    <dgm:pt modelId="{67962E76-DD35-4F96-93E2-6C63FE627798}" type="pres">
      <dgm:prSet presAssocID="{D1689EF4-9DD2-47D5-9BD1-D8CD1BA65765}" presName="composite3" presStyleCnt="0"/>
      <dgm:spPr/>
    </dgm:pt>
    <dgm:pt modelId="{48C022CC-E95D-4A4E-BECD-F9CE4553262A}" type="pres">
      <dgm:prSet presAssocID="{D1689EF4-9DD2-47D5-9BD1-D8CD1BA65765}" presName="background3" presStyleLbl="node3" presStyleIdx="3" presStyleCnt="5"/>
      <dgm:spPr/>
    </dgm:pt>
    <dgm:pt modelId="{7D3BDA9C-70D3-412A-AA10-7DE42C18A90E}" type="pres">
      <dgm:prSet presAssocID="{D1689EF4-9DD2-47D5-9BD1-D8CD1BA65765}" presName="text3" presStyleLbl="fgAcc3" presStyleIdx="3" presStyleCnt="5" custLinFactNeighborX="-22376" custLinFactNeighborY="-7184">
        <dgm:presLayoutVars>
          <dgm:chPref val="3"/>
        </dgm:presLayoutVars>
      </dgm:prSet>
      <dgm:spPr/>
    </dgm:pt>
    <dgm:pt modelId="{D762D95F-3A54-45F0-96E1-3CDA3EB30075}" type="pres">
      <dgm:prSet presAssocID="{D1689EF4-9DD2-47D5-9BD1-D8CD1BA65765}" presName="hierChild4" presStyleCnt="0"/>
      <dgm:spPr/>
    </dgm:pt>
    <dgm:pt modelId="{5009602A-0141-45C3-B9EF-46B768E4E232}" type="pres">
      <dgm:prSet presAssocID="{C753BD2C-A39D-47A2-B47A-5266466C2F24}" presName="Name17" presStyleLbl="parChTrans1D3" presStyleIdx="4" presStyleCnt="5"/>
      <dgm:spPr/>
    </dgm:pt>
    <dgm:pt modelId="{73419953-F369-4D3E-A01A-045C7E2672BC}" type="pres">
      <dgm:prSet presAssocID="{E5A984BF-BFF7-41A7-BA1F-2F0A4DF361DA}" presName="hierRoot3" presStyleCnt="0"/>
      <dgm:spPr/>
    </dgm:pt>
    <dgm:pt modelId="{019A31D0-944E-4DAC-A6FC-B999DDBB6DC6}" type="pres">
      <dgm:prSet presAssocID="{E5A984BF-BFF7-41A7-BA1F-2F0A4DF361DA}" presName="composite3" presStyleCnt="0"/>
      <dgm:spPr/>
    </dgm:pt>
    <dgm:pt modelId="{636064E0-C59F-4725-B503-AF8FE7340888}" type="pres">
      <dgm:prSet presAssocID="{E5A984BF-BFF7-41A7-BA1F-2F0A4DF361DA}" presName="background3" presStyleLbl="node3" presStyleIdx="4" presStyleCnt="5"/>
      <dgm:spPr/>
    </dgm:pt>
    <dgm:pt modelId="{22FB2377-3733-4730-93D5-95E281B1D73E}" type="pres">
      <dgm:prSet presAssocID="{E5A984BF-BFF7-41A7-BA1F-2F0A4DF361DA}" presName="text3" presStyleLbl="fgAcc3" presStyleIdx="4" presStyleCnt="5" custLinFactNeighborX="-28564" custLinFactNeighborY="-7184">
        <dgm:presLayoutVars>
          <dgm:chPref val="3"/>
        </dgm:presLayoutVars>
      </dgm:prSet>
      <dgm:spPr/>
    </dgm:pt>
    <dgm:pt modelId="{B81F6FDE-3A81-430E-B9D2-0BD7603A5814}" type="pres">
      <dgm:prSet presAssocID="{E5A984BF-BFF7-41A7-BA1F-2F0A4DF361DA}" presName="hierChild4" presStyleCnt="0"/>
      <dgm:spPr/>
    </dgm:pt>
    <dgm:pt modelId="{517CB249-5740-4371-A8B6-984586797387}" type="pres">
      <dgm:prSet presAssocID="{27B7BD47-D243-4B86-AF46-FBCCAEA8C223}" presName="Name10" presStyleLbl="parChTrans1D2" presStyleIdx="1" presStyleCnt="2"/>
      <dgm:spPr/>
    </dgm:pt>
    <dgm:pt modelId="{83008D35-7FC9-45BC-AF6E-FB261CEA1D1F}" type="pres">
      <dgm:prSet presAssocID="{E0CC88CE-A537-46FA-94F2-C59283667D25}" presName="hierRoot2" presStyleCnt="0"/>
      <dgm:spPr/>
    </dgm:pt>
    <dgm:pt modelId="{D4E94F81-C6B4-4868-AC2C-05EE2955782E}" type="pres">
      <dgm:prSet presAssocID="{E0CC88CE-A537-46FA-94F2-C59283667D25}" presName="composite2" presStyleCnt="0"/>
      <dgm:spPr/>
    </dgm:pt>
    <dgm:pt modelId="{DF334235-E40D-48C1-BF0E-FF281EE22C9A}" type="pres">
      <dgm:prSet presAssocID="{E0CC88CE-A537-46FA-94F2-C59283667D25}" presName="background2" presStyleLbl="node2" presStyleIdx="1" presStyleCnt="2"/>
      <dgm:spPr/>
    </dgm:pt>
    <dgm:pt modelId="{FE5BCB2C-C384-4A75-9205-919D1A733102}" type="pres">
      <dgm:prSet presAssocID="{E0CC88CE-A537-46FA-94F2-C59283667D25}" presName="text2" presStyleLbl="fgAcc2" presStyleIdx="1" presStyleCnt="2" custScaleX="100242" custScaleY="100308" custLinFactNeighborX="-14269" custLinFactNeighborY="-36877">
        <dgm:presLayoutVars>
          <dgm:chPref val="3"/>
        </dgm:presLayoutVars>
      </dgm:prSet>
      <dgm:spPr/>
    </dgm:pt>
    <dgm:pt modelId="{EC3505A9-75C5-41A4-9018-159FE8BD8664}" type="pres">
      <dgm:prSet presAssocID="{E0CC88CE-A537-46FA-94F2-C59283667D25}" presName="hierChild3" presStyleCnt="0"/>
      <dgm:spPr/>
    </dgm:pt>
  </dgm:ptLst>
  <dgm:cxnLst>
    <dgm:cxn modelId="{73F4F60E-09B3-4DB6-A617-48FB1E8146CF}" type="presOf" srcId="{E0CC88CE-A537-46FA-94F2-C59283667D25}" destId="{FE5BCB2C-C384-4A75-9205-919D1A733102}" srcOrd="0" destOrd="0" presId="urn:microsoft.com/office/officeart/2005/8/layout/hierarchy1"/>
    <dgm:cxn modelId="{A130A113-F5AC-4441-A156-80F902A559C5}" srcId="{AE5CFB9E-1156-45EB-B5FF-D3C6F58122B9}" destId="{250AE492-65C9-4A02-99B1-B36C08FFBCF7}" srcOrd="2" destOrd="0" parTransId="{C79B4607-950B-461E-B7D3-151DB845131B}" sibTransId="{320789D9-BA13-470B-82EA-F1AE6B3D7933}"/>
    <dgm:cxn modelId="{B8ADF029-062D-4F5B-807D-DFCC02A324CC}" type="presOf" srcId="{B49F87D9-D9E5-423A-BE06-AA33B2B30999}" destId="{33DE7D90-7FD8-4279-A748-5F31A5C7CEB0}" srcOrd="0" destOrd="0" presId="urn:microsoft.com/office/officeart/2005/8/layout/hierarchy1"/>
    <dgm:cxn modelId="{6F01D02B-7BC4-4699-BEFD-95783FC63966}" srcId="{AE5CFB9E-1156-45EB-B5FF-D3C6F58122B9}" destId="{B49F87D9-D9E5-423A-BE06-AA33B2B30999}" srcOrd="0" destOrd="0" parTransId="{8A2010B2-183C-4151-9877-E6DAEB9B7BEB}" sibTransId="{97A46392-C5E7-4375-A921-64CD0656F2C0}"/>
    <dgm:cxn modelId="{05FF273D-B709-45D6-8529-FD75D6C695F2}" type="presOf" srcId="{C753BD2C-A39D-47A2-B47A-5266466C2F24}" destId="{5009602A-0141-45C3-B9EF-46B768E4E232}" srcOrd="0" destOrd="0" presId="urn:microsoft.com/office/officeart/2005/8/layout/hierarchy1"/>
    <dgm:cxn modelId="{0A565F5B-4F4D-43AA-8956-040AAB87C8ED}" srcId="{9AD0CF53-655C-4F78-8826-43C60C6C7B6E}" destId="{AE5CFB9E-1156-45EB-B5FF-D3C6F58122B9}" srcOrd="0" destOrd="0" parTransId="{9721DEB2-137B-4A9C-9FF3-97042082375C}" sibTransId="{49EAC6A7-E8DD-436C-BD1B-F3322F6DCC4D}"/>
    <dgm:cxn modelId="{6AF1E55F-236C-4BAE-89C7-55CCB172BB52}" type="presOf" srcId="{27B7BD47-D243-4B86-AF46-FBCCAEA8C223}" destId="{517CB249-5740-4371-A8B6-984586797387}" srcOrd="0" destOrd="0" presId="urn:microsoft.com/office/officeart/2005/8/layout/hierarchy1"/>
    <dgm:cxn modelId="{63BF784D-278C-45BE-ADD4-D22492359E72}" srcId="{9AD0CF53-655C-4F78-8826-43C60C6C7B6E}" destId="{E0CC88CE-A537-46FA-94F2-C59283667D25}" srcOrd="1" destOrd="0" parTransId="{27B7BD47-D243-4B86-AF46-FBCCAEA8C223}" sibTransId="{C84E5F33-7C62-4C95-8A6D-065F0161DCB1}"/>
    <dgm:cxn modelId="{FBD0CC51-B8DF-4D1D-B446-61D83BDAA8FC}" type="presOf" srcId="{9721DEB2-137B-4A9C-9FF3-97042082375C}" destId="{706FED3D-46E9-47B5-A8C7-4E87A8A337F0}" srcOrd="0" destOrd="0" presId="urn:microsoft.com/office/officeart/2005/8/layout/hierarchy1"/>
    <dgm:cxn modelId="{2D66EE73-364B-48D6-BD8E-AF2D8EF53B9F}" type="presOf" srcId="{9AD0CF53-655C-4F78-8826-43C60C6C7B6E}" destId="{E8377455-DCA0-43A2-9D3B-46576B7487C9}" srcOrd="0" destOrd="0" presId="urn:microsoft.com/office/officeart/2005/8/layout/hierarchy1"/>
    <dgm:cxn modelId="{C3376380-6E3F-4F41-83B0-484E238754A4}" type="presOf" srcId="{9870A59E-897C-4C6C-8FFF-E1EF22A8194F}" destId="{50512C34-776A-43E8-B0FB-779BD700E649}" srcOrd="0" destOrd="0" presId="urn:microsoft.com/office/officeart/2005/8/layout/hierarchy1"/>
    <dgm:cxn modelId="{06828281-624C-4C97-B420-1133CA068F50}" type="presOf" srcId="{D1689EF4-9DD2-47D5-9BD1-D8CD1BA65765}" destId="{7D3BDA9C-70D3-412A-AA10-7DE42C18A90E}" srcOrd="0" destOrd="0" presId="urn:microsoft.com/office/officeart/2005/8/layout/hierarchy1"/>
    <dgm:cxn modelId="{500CDF98-0C6D-4E1C-8914-1E479F7954A3}" srcId="{AE5CFB9E-1156-45EB-B5FF-D3C6F58122B9}" destId="{E5A984BF-BFF7-41A7-BA1F-2F0A4DF361DA}" srcOrd="4" destOrd="0" parTransId="{C753BD2C-A39D-47A2-B47A-5266466C2F24}" sibTransId="{6FC8809D-D6F1-4CAA-8193-31D5F774D885}"/>
    <dgm:cxn modelId="{B2A79E9B-245A-4AE0-BA48-2144F0B23577}" type="presOf" srcId="{C79B4607-950B-461E-B7D3-151DB845131B}" destId="{44E8F7CB-CA48-4FEA-A2B5-E6FFB5399F44}" srcOrd="0" destOrd="0" presId="urn:microsoft.com/office/officeart/2005/8/layout/hierarchy1"/>
    <dgm:cxn modelId="{F2A4229E-FC81-42F8-A891-F027EEF00659}" srcId="{AE5CFB9E-1156-45EB-B5FF-D3C6F58122B9}" destId="{D1689EF4-9DD2-47D5-9BD1-D8CD1BA65765}" srcOrd="3" destOrd="0" parTransId="{9870A59E-897C-4C6C-8FFF-E1EF22A8194F}" sibTransId="{8FF5F617-F075-4804-B63A-BA3D7B7FE5D2}"/>
    <dgm:cxn modelId="{03C56EA1-14C3-40CD-85B0-4904C0EB946D}" type="presOf" srcId="{1717BD5F-1601-4FDA-AA8E-5772B0E247DF}" destId="{E70BA6ED-A06E-4D0B-9826-765498763D99}" srcOrd="0" destOrd="0" presId="urn:microsoft.com/office/officeart/2005/8/layout/hierarchy1"/>
    <dgm:cxn modelId="{77EDF2AB-1B73-4C41-BF2B-5EB5496C8C37}" type="presOf" srcId="{AE5CFB9E-1156-45EB-B5FF-D3C6F58122B9}" destId="{8F26E9B8-F0C3-46AB-8183-3133CDCB50D7}" srcOrd="0" destOrd="0" presId="urn:microsoft.com/office/officeart/2005/8/layout/hierarchy1"/>
    <dgm:cxn modelId="{D147B9B4-184D-4F3A-942C-74F031251D9E}" type="presOf" srcId="{8A2010B2-183C-4151-9877-E6DAEB9B7BEB}" destId="{4C1CDAD3-CA2C-43C6-AB99-5692920E4B26}" srcOrd="0" destOrd="0" presId="urn:microsoft.com/office/officeart/2005/8/layout/hierarchy1"/>
    <dgm:cxn modelId="{A992E3B8-08C4-4171-BE9E-99B1FB5F5146}" type="presOf" srcId="{03E4CFD3-36C8-496E-818E-8EB473DDBBB1}" destId="{4CCECC76-7D79-41AC-A0D5-722638B00038}" srcOrd="0" destOrd="0" presId="urn:microsoft.com/office/officeart/2005/8/layout/hierarchy1"/>
    <dgm:cxn modelId="{555507CD-A9DC-4009-A81D-7FE98A3EBE98}" type="presOf" srcId="{E5A984BF-BFF7-41A7-BA1F-2F0A4DF361DA}" destId="{22FB2377-3733-4730-93D5-95E281B1D73E}" srcOrd="0" destOrd="0" presId="urn:microsoft.com/office/officeart/2005/8/layout/hierarchy1"/>
    <dgm:cxn modelId="{61577CD7-9F1A-4D1C-BE5E-D4F51CECA8F7}" srcId="{AE5CFB9E-1156-45EB-B5FF-D3C6F58122B9}" destId="{1717BD5F-1601-4FDA-AA8E-5772B0E247DF}" srcOrd="1" destOrd="0" parTransId="{CDD7000C-37ED-42EF-AB1E-8AFD858B10D8}" sibTransId="{6003BC30-1595-4C45-9A7F-2B1180F2B3EB}"/>
    <dgm:cxn modelId="{F6C661DB-4AEF-43D9-B38D-CD32A4F7A75B}" type="presOf" srcId="{CDD7000C-37ED-42EF-AB1E-8AFD858B10D8}" destId="{0FE79886-D7D1-40A4-A6AB-0B1CFB3CD310}" srcOrd="0" destOrd="0" presId="urn:microsoft.com/office/officeart/2005/8/layout/hierarchy1"/>
    <dgm:cxn modelId="{B607DFF6-E2A6-4614-B37C-A1C771A4FAAF}" type="presOf" srcId="{250AE492-65C9-4A02-99B1-B36C08FFBCF7}" destId="{5F128D02-3FA8-4465-BF78-6BAF67EB40FE}" srcOrd="0" destOrd="0" presId="urn:microsoft.com/office/officeart/2005/8/layout/hierarchy1"/>
    <dgm:cxn modelId="{4A573BFC-B6D7-443A-A202-3DDF165BB0CC}" srcId="{03E4CFD3-36C8-496E-818E-8EB473DDBBB1}" destId="{9AD0CF53-655C-4F78-8826-43C60C6C7B6E}" srcOrd="0" destOrd="0" parTransId="{925F9024-310E-44F6-8E64-F720E1FF8FE4}" sibTransId="{E6FCD14F-6F77-426A-A7E4-BA7F729F6A46}"/>
    <dgm:cxn modelId="{EB582266-A3E0-4136-8E51-A278286E0CAB}" type="presParOf" srcId="{4CCECC76-7D79-41AC-A0D5-722638B00038}" destId="{CF20DD76-9A6C-4C1C-BA92-BCDCEE8411FE}" srcOrd="0" destOrd="0" presId="urn:microsoft.com/office/officeart/2005/8/layout/hierarchy1"/>
    <dgm:cxn modelId="{87C73CED-ACAF-45B6-A853-3721554D3312}" type="presParOf" srcId="{CF20DD76-9A6C-4C1C-BA92-BCDCEE8411FE}" destId="{5A58A603-78B6-43F3-A4C5-750E30EEE17A}" srcOrd="0" destOrd="0" presId="urn:microsoft.com/office/officeart/2005/8/layout/hierarchy1"/>
    <dgm:cxn modelId="{83F4E307-0427-44F3-B76F-70170E5D64D0}" type="presParOf" srcId="{5A58A603-78B6-43F3-A4C5-750E30EEE17A}" destId="{E4E77657-D943-4637-B19C-CE3A2E4A7263}" srcOrd="0" destOrd="0" presId="urn:microsoft.com/office/officeart/2005/8/layout/hierarchy1"/>
    <dgm:cxn modelId="{5627E787-7C2C-4F66-8CCE-022015AA478F}" type="presParOf" srcId="{5A58A603-78B6-43F3-A4C5-750E30EEE17A}" destId="{E8377455-DCA0-43A2-9D3B-46576B7487C9}" srcOrd="1" destOrd="0" presId="urn:microsoft.com/office/officeart/2005/8/layout/hierarchy1"/>
    <dgm:cxn modelId="{A896DFA0-F526-417D-B9B3-FF3FF3DE4628}" type="presParOf" srcId="{CF20DD76-9A6C-4C1C-BA92-BCDCEE8411FE}" destId="{54302419-E1B2-458E-897B-3FEC72A6621F}" srcOrd="1" destOrd="0" presId="urn:microsoft.com/office/officeart/2005/8/layout/hierarchy1"/>
    <dgm:cxn modelId="{E7438C3F-9695-4265-9676-39CBAA2293BE}" type="presParOf" srcId="{54302419-E1B2-458E-897B-3FEC72A6621F}" destId="{706FED3D-46E9-47B5-A8C7-4E87A8A337F0}" srcOrd="0" destOrd="0" presId="urn:microsoft.com/office/officeart/2005/8/layout/hierarchy1"/>
    <dgm:cxn modelId="{1DB2117E-6987-4D2C-B00A-256A1E27F303}" type="presParOf" srcId="{54302419-E1B2-458E-897B-3FEC72A6621F}" destId="{E096348A-7B22-48B6-B185-27652E3E92B6}" srcOrd="1" destOrd="0" presId="urn:microsoft.com/office/officeart/2005/8/layout/hierarchy1"/>
    <dgm:cxn modelId="{9293993B-DF16-4722-A5CA-2F182E73529A}" type="presParOf" srcId="{E096348A-7B22-48B6-B185-27652E3E92B6}" destId="{7F8A307A-38DB-4098-9376-037DCF920F78}" srcOrd="0" destOrd="0" presId="urn:microsoft.com/office/officeart/2005/8/layout/hierarchy1"/>
    <dgm:cxn modelId="{C92A74B0-7953-46D6-9FB2-B2D6E9C122B3}" type="presParOf" srcId="{7F8A307A-38DB-4098-9376-037DCF920F78}" destId="{BEA181EA-F8DA-4B80-9894-D30997E60AF8}" srcOrd="0" destOrd="0" presId="urn:microsoft.com/office/officeart/2005/8/layout/hierarchy1"/>
    <dgm:cxn modelId="{000FC72A-F7BD-4070-8C5E-733A60D25BCC}" type="presParOf" srcId="{7F8A307A-38DB-4098-9376-037DCF920F78}" destId="{8F26E9B8-F0C3-46AB-8183-3133CDCB50D7}" srcOrd="1" destOrd="0" presId="urn:microsoft.com/office/officeart/2005/8/layout/hierarchy1"/>
    <dgm:cxn modelId="{F2749246-F90D-4E66-8602-3983AEDC8013}" type="presParOf" srcId="{E096348A-7B22-48B6-B185-27652E3E92B6}" destId="{7903A1B9-6462-48F0-A683-8FB9AD412268}" srcOrd="1" destOrd="0" presId="urn:microsoft.com/office/officeart/2005/8/layout/hierarchy1"/>
    <dgm:cxn modelId="{8607E361-BB31-4883-88B3-4208DC708254}" type="presParOf" srcId="{7903A1B9-6462-48F0-A683-8FB9AD412268}" destId="{4C1CDAD3-CA2C-43C6-AB99-5692920E4B26}" srcOrd="0" destOrd="0" presId="urn:microsoft.com/office/officeart/2005/8/layout/hierarchy1"/>
    <dgm:cxn modelId="{0AFA0DD9-02F6-4E87-BFC2-AB4D09182055}" type="presParOf" srcId="{7903A1B9-6462-48F0-A683-8FB9AD412268}" destId="{8DCC9794-6F47-454B-A3D3-E1B00ADEC421}" srcOrd="1" destOrd="0" presId="urn:microsoft.com/office/officeart/2005/8/layout/hierarchy1"/>
    <dgm:cxn modelId="{C176A60B-EF79-4558-A4A8-8DF775FD48A8}" type="presParOf" srcId="{8DCC9794-6F47-454B-A3D3-E1B00ADEC421}" destId="{89CCE682-F186-4278-8C80-991F497EE9FB}" srcOrd="0" destOrd="0" presId="urn:microsoft.com/office/officeart/2005/8/layout/hierarchy1"/>
    <dgm:cxn modelId="{1E327532-29B6-401F-8D2C-4384BE3FAA97}" type="presParOf" srcId="{89CCE682-F186-4278-8C80-991F497EE9FB}" destId="{129A23E1-EDA1-4DFE-A96B-D4E3A3E39B44}" srcOrd="0" destOrd="0" presId="urn:microsoft.com/office/officeart/2005/8/layout/hierarchy1"/>
    <dgm:cxn modelId="{04FFA3A7-3456-4129-8E1A-F41D25A835BF}" type="presParOf" srcId="{89CCE682-F186-4278-8C80-991F497EE9FB}" destId="{33DE7D90-7FD8-4279-A748-5F31A5C7CEB0}" srcOrd="1" destOrd="0" presId="urn:microsoft.com/office/officeart/2005/8/layout/hierarchy1"/>
    <dgm:cxn modelId="{A156D289-23BA-49D0-8135-901C6D953D8F}" type="presParOf" srcId="{8DCC9794-6F47-454B-A3D3-E1B00ADEC421}" destId="{7F0DDD10-0A39-4A14-955D-80D87238BBE5}" srcOrd="1" destOrd="0" presId="urn:microsoft.com/office/officeart/2005/8/layout/hierarchy1"/>
    <dgm:cxn modelId="{13D26190-6C6B-423D-A836-7C86848F8CA0}" type="presParOf" srcId="{7903A1B9-6462-48F0-A683-8FB9AD412268}" destId="{0FE79886-D7D1-40A4-A6AB-0B1CFB3CD310}" srcOrd="2" destOrd="0" presId="urn:microsoft.com/office/officeart/2005/8/layout/hierarchy1"/>
    <dgm:cxn modelId="{0F92B256-90EF-4562-B754-56A65397FC02}" type="presParOf" srcId="{7903A1B9-6462-48F0-A683-8FB9AD412268}" destId="{D49A717D-209B-4543-84A1-1703C4FE41F2}" srcOrd="3" destOrd="0" presId="urn:microsoft.com/office/officeart/2005/8/layout/hierarchy1"/>
    <dgm:cxn modelId="{B69F3783-7598-45D1-AAA9-DE1644DB9081}" type="presParOf" srcId="{D49A717D-209B-4543-84A1-1703C4FE41F2}" destId="{E774080E-DDA0-42D8-BBAA-DE83FB1F01C2}" srcOrd="0" destOrd="0" presId="urn:microsoft.com/office/officeart/2005/8/layout/hierarchy1"/>
    <dgm:cxn modelId="{B2ACAE87-9806-49A6-A66B-1258FD980F30}" type="presParOf" srcId="{E774080E-DDA0-42D8-BBAA-DE83FB1F01C2}" destId="{8758C877-C91B-48F4-8B3C-7D84EDB9DC2D}" srcOrd="0" destOrd="0" presId="urn:microsoft.com/office/officeart/2005/8/layout/hierarchy1"/>
    <dgm:cxn modelId="{FEE4C5CD-1012-4DC8-9D56-7F44B4345DBF}" type="presParOf" srcId="{E774080E-DDA0-42D8-BBAA-DE83FB1F01C2}" destId="{E70BA6ED-A06E-4D0B-9826-765498763D99}" srcOrd="1" destOrd="0" presId="urn:microsoft.com/office/officeart/2005/8/layout/hierarchy1"/>
    <dgm:cxn modelId="{0E4F6D90-8782-4698-AC26-D340BF30FAE1}" type="presParOf" srcId="{D49A717D-209B-4543-84A1-1703C4FE41F2}" destId="{4D0F8CED-4FC5-482F-916E-7813D987005F}" srcOrd="1" destOrd="0" presId="urn:microsoft.com/office/officeart/2005/8/layout/hierarchy1"/>
    <dgm:cxn modelId="{E7B7B318-3E05-41B5-961D-2ACE6EC48C49}" type="presParOf" srcId="{7903A1B9-6462-48F0-A683-8FB9AD412268}" destId="{44E8F7CB-CA48-4FEA-A2B5-E6FFB5399F44}" srcOrd="4" destOrd="0" presId="urn:microsoft.com/office/officeart/2005/8/layout/hierarchy1"/>
    <dgm:cxn modelId="{4E8CD7B3-E7B6-4C58-96A3-67882BF35C44}" type="presParOf" srcId="{7903A1B9-6462-48F0-A683-8FB9AD412268}" destId="{243F2166-6B80-4045-A5F9-E89D7010F39E}" srcOrd="5" destOrd="0" presId="urn:microsoft.com/office/officeart/2005/8/layout/hierarchy1"/>
    <dgm:cxn modelId="{3DDC7988-AFF9-4B6D-9C59-1D38D8E711AF}" type="presParOf" srcId="{243F2166-6B80-4045-A5F9-E89D7010F39E}" destId="{7B600666-DA0B-4269-824E-C11C522E3B14}" srcOrd="0" destOrd="0" presId="urn:microsoft.com/office/officeart/2005/8/layout/hierarchy1"/>
    <dgm:cxn modelId="{41CA807D-C84B-4516-962F-3CDF5C8BF2E5}" type="presParOf" srcId="{7B600666-DA0B-4269-824E-C11C522E3B14}" destId="{7F873A59-CC06-46A8-A4A7-3314C3BE2795}" srcOrd="0" destOrd="0" presId="urn:microsoft.com/office/officeart/2005/8/layout/hierarchy1"/>
    <dgm:cxn modelId="{A26453FF-D3A4-4398-A027-2723F3D9B3A0}" type="presParOf" srcId="{7B600666-DA0B-4269-824E-C11C522E3B14}" destId="{5F128D02-3FA8-4465-BF78-6BAF67EB40FE}" srcOrd="1" destOrd="0" presId="urn:microsoft.com/office/officeart/2005/8/layout/hierarchy1"/>
    <dgm:cxn modelId="{AF7E1842-2FE7-484E-AACF-1F369AD161A8}" type="presParOf" srcId="{243F2166-6B80-4045-A5F9-E89D7010F39E}" destId="{FA6553BB-D117-4DA8-A521-A5D187DC8165}" srcOrd="1" destOrd="0" presId="urn:microsoft.com/office/officeart/2005/8/layout/hierarchy1"/>
    <dgm:cxn modelId="{E34BD3F8-7572-4A8A-8924-352A0FC174BD}" type="presParOf" srcId="{7903A1B9-6462-48F0-A683-8FB9AD412268}" destId="{50512C34-776A-43E8-B0FB-779BD700E649}" srcOrd="6" destOrd="0" presId="urn:microsoft.com/office/officeart/2005/8/layout/hierarchy1"/>
    <dgm:cxn modelId="{D3D3282F-5674-476A-98BF-5664C50E1179}" type="presParOf" srcId="{7903A1B9-6462-48F0-A683-8FB9AD412268}" destId="{40C51AE8-D731-483E-9F00-184CE609CC3D}" srcOrd="7" destOrd="0" presId="urn:microsoft.com/office/officeart/2005/8/layout/hierarchy1"/>
    <dgm:cxn modelId="{20DBE264-0A98-46D9-9E3E-CEED27E0D2C2}" type="presParOf" srcId="{40C51AE8-D731-483E-9F00-184CE609CC3D}" destId="{67962E76-DD35-4F96-93E2-6C63FE627798}" srcOrd="0" destOrd="0" presId="urn:microsoft.com/office/officeart/2005/8/layout/hierarchy1"/>
    <dgm:cxn modelId="{06F98572-2817-40D5-BFDD-563E357646E9}" type="presParOf" srcId="{67962E76-DD35-4F96-93E2-6C63FE627798}" destId="{48C022CC-E95D-4A4E-BECD-F9CE4553262A}" srcOrd="0" destOrd="0" presId="urn:microsoft.com/office/officeart/2005/8/layout/hierarchy1"/>
    <dgm:cxn modelId="{E229295B-72D4-4632-B76D-A3F291DB22EF}" type="presParOf" srcId="{67962E76-DD35-4F96-93E2-6C63FE627798}" destId="{7D3BDA9C-70D3-412A-AA10-7DE42C18A90E}" srcOrd="1" destOrd="0" presId="urn:microsoft.com/office/officeart/2005/8/layout/hierarchy1"/>
    <dgm:cxn modelId="{C773007A-BD94-4C9C-9248-F8FF5A5427B6}" type="presParOf" srcId="{40C51AE8-D731-483E-9F00-184CE609CC3D}" destId="{D762D95F-3A54-45F0-96E1-3CDA3EB30075}" srcOrd="1" destOrd="0" presId="urn:microsoft.com/office/officeart/2005/8/layout/hierarchy1"/>
    <dgm:cxn modelId="{D756B498-70FF-4F56-804F-336FCE1669AA}" type="presParOf" srcId="{7903A1B9-6462-48F0-A683-8FB9AD412268}" destId="{5009602A-0141-45C3-B9EF-46B768E4E232}" srcOrd="8" destOrd="0" presId="urn:microsoft.com/office/officeart/2005/8/layout/hierarchy1"/>
    <dgm:cxn modelId="{2456EC66-AE03-4186-B80D-1BADA0A5C7AF}" type="presParOf" srcId="{7903A1B9-6462-48F0-A683-8FB9AD412268}" destId="{73419953-F369-4D3E-A01A-045C7E2672BC}" srcOrd="9" destOrd="0" presId="urn:microsoft.com/office/officeart/2005/8/layout/hierarchy1"/>
    <dgm:cxn modelId="{0068F120-2667-43C6-9E10-6EDC0C04F405}" type="presParOf" srcId="{73419953-F369-4D3E-A01A-045C7E2672BC}" destId="{019A31D0-944E-4DAC-A6FC-B999DDBB6DC6}" srcOrd="0" destOrd="0" presId="urn:microsoft.com/office/officeart/2005/8/layout/hierarchy1"/>
    <dgm:cxn modelId="{844E0A24-15C3-4395-ACEB-E88E4A33938B}" type="presParOf" srcId="{019A31D0-944E-4DAC-A6FC-B999DDBB6DC6}" destId="{636064E0-C59F-4725-B503-AF8FE7340888}" srcOrd="0" destOrd="0" presId="urn:microsoft.com/office/officeart/2005/8/layout/hierarchy1"/>
    <dgm:cxn modelId="{5C1E644D-93A9-46EE-AA25-229EE8338A22}" type="presParOf" srcId="{019A31D0-944E-4DAC-A6FC-B999DDBB6DC6}" destId="{22FB2377-3733-4730-93D5-95E281B1D73E}" srcOrd="1" destOrd="0" presId="urn:microsoft.com/office/officeart/2005/8/layout/hierarchy1"/>
    <dgm:cxn modelId="{35BBAE59-7185-4A0A-8929-55037D87BF0D}" type="presParOf" srcId="{73419953-F369-4D3E-A01A-045C7E2672BC}" destId="{B81F6FDE-3A81-430E-B9D2-0BD7603A5814}" srcOrd="1" destOrd="0" presId="urn:microsoft.com/office/officeart/2005/8/layout/hierarchy1"/>
    <dgm:cxn modelId="{756312D4-FA27-4BD9-BE50-A1566D5560D0}" type="presParOf" srcId="{54302419-E1B2-458E-897B-3FEC72A6621F}" destId="{517CB249-5740-4371-A8B6-984586797387}" srcOrd="2" destOrd="0" presId="urn:microsoft.com/office/officeart/2005/8/layout/hierarchy1"/>
    <dgm:cxn modelId="{E0B24501-776C-42BC-BF2F-A3E152BE5E98}" type="presParOf" srcId="{54302419-E1B2-458E-897B-3FEC72A6621F}" destId="{83008D35-7FC9-45BC-AF6E-FB261CEA1D1F}" srcOrd="3" destOrd="0" presId="urn:microsoft.com/office/officeart/2005/8/layout/hierarchy1"/>
    <dgm:cxn modelId="{DCB0D0E7-E952-41F5-98DE-F6EABA217839}" type="presParOf" srcId="{83008D35-7FC9-45BC-AF6E-FB261CEA1D1F}" destId="{D4E94F81-C6B4-4868-AC2C-05EE2955782E}" srcOrd="0" destOrd="0" presId="urn:microsoft.com/office/officeart/2005/8/layout/hierarchy1"/>
    <dgm:cxn modelId="{C98C4365-77AE-4914-81CC-B4EEC8CFBAD5}" type="presParOf" srcId="{D4E94F81-C6B4-4868-AC2C-05EE2955782E}" destId="{DF334235-E40D-48C1-BF0E-FF281EE22C9A}" srcOrd="0" destOrd="0" presId="urn:microsoft.com/office/officeart/2005/8/layout/hierarchy1"/>
    <dgm:cxn modelId="{A395DBF0-3436-453E-9DE1-8D31FD4D008D}" type="presParOf" srcId="{D4E94F81-C6B4-4868-AC2C-05EE2955782E}" destId="{FE5BCB2C-C384-4A75-9205-919D1A733102}" srcOrd="1" destOrd="0" presId="urn:microsoft.com/office/officeart/2005/8/layout/hierarchy1"/>
    <dgm:cxn modelId="{5D61B76E-3B6C-4793-82C5-E1970DAF2F1A}" type="presParOf" srcId="{83008D35-7FC9-45BC-AF6E-FB261CEA1D1F}" destId="{EC3505A9-75C5-41A4-9018-159FE8BD866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7CB249-5740-4371-A8B6-984586797387}">
      <dsp:nvSpPr>
        <dsp:cNvPr id="0" name=""/>
        <dsp:cNvSpPr/>
      </dsp:nvSpPr>
      <dsp:spPr>
        <a:xfrm>
          <a:off x="5063193" y="1053733"/>
          <a:ext cx="1990119" cy="8187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6548"/>
              </a:lnTo>
              <a:lnTo>
                <a:pt x="1990119" y="656548"/>
              </a:lnTo>
              <a:lnTo>
                <a:pt x="1990119" y="8187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09602A-0141-45C3-B9EF-46B768E4E232}">
      <dsp:nvSpPr>
        <dsp:cNvPr id="0" name=""/>
        <dsp:cNvSpPr/>
      </dsp:nvSpPr>
      <dsp:spPr>
        <a:xfrm>
          <a:off x="2554869" y="2984671"/>
          <a:ext cx="6386564" cy="8395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7345"/>
              </a:lnTo>
              <a:lnTo>
                <a:pt x="6386564" y="677345"/>
              </a:lnTo>
              <a:lnTo>
                <a:pt x="6386564" y="83959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512C34-776A-43E8-B0FB-779BD700E649}">
      <dsp:nvSpPr>
        <dsp:cNvPr id="0" name=""/>
        <dsp:cNvSpPr/>
      </dsp:nvSpPr>
      <dsp:spPr>
        <a:xfrm>
          <a:off x="2554869" y="2984671"/>
          <a:ext cx="4354339" cy="8395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7345"/>
              </a:lnTo>
              <a:lnTo>
                <a:pt x="4354339" y="677345"/>
              </a:lnTo>
              <a:lnTo>
                <a:pt x="4354339" y="83959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E8F7CB-CA48-4FEA-A2B5-E6FFB5399F44}">
      <dsp:nvSpPr>
        <dsp:cNvPr id="0" name=""/>
        <dsp:cNvSpPr/>
      </dsp:nvSpPr>
      <dsp:spPr>
        <a:xfrm>
          <a:off x="2554869" y="2984671"/>
          <a:ext cx="2260394" cy="8395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7345"/>
              </a:lnTo>
              <a:lnTo>
                <a:pt x="2260394" y="677345"/>
              </a:lnTo>
              <a:lnTo>
                <a:pt x="2260394" y="83959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E79886-D7D1-40A4-A6AB-0B1CFB3CD310}">
      <dsp:nvSpPr>
        <dsp:cNvPr id="0" name=""/>
        <dsp:cNvSpPr/>
      </dsp:nvSpPr>
      <dsp:spPr>
        <a:xfrm>
          <a:off x="2554869" y="2984671"/>
          <a:ext cx="213089" cy="8395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7345"/>
              </a:lnTo>
              <a:lnTo>
                <a:pt x="213089" y="677345"/>
              </a:lnTo>
              <a:lnTo>
                <a:pt x="213089" y="83959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1CDAD3-CA2C-43C6-AB99-5692920E4B26}">
      <dsp:nvSpPr>
        <dsp:cNvPr id="0" name=""/>
        <dsp:cNvSpPr/>
      </dsp:nvSpPr>
      <dsp:spPr>
        <a:xfrm>
          <a:off x="681106" y="2984671"/>
          <a:ext cx="1873762" cy="839593"/>
        </a:xfrm>
        <a:custGeom>
          <a:avLst/>
          <a:gdLst/>
          <a:ahLst/>
          <a:cxnLst/>
          <a:rect l="0" t="0" r="0" b="0"/>
          <a:pathLst>
            <a:path>
              <a:moveTo>
                <a:pt x="1873762" y="0"/>
              </a:moveTo>
              <a:lnTo>
                <a:pt x="1873762" y="677345"/>
              </a:lnTo>
              <a:lnTo>
                <a:pt x="0" y="677345"/>
              </a:lnTo>
              <a:lnTo>
                <a:pt x="0" y="83959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6FED3D-46E9-47B5-A8C7-4E87A8A337F0}">
      <dsp:nvSpPr>
        <dsp:cNvPr id="0" name=""/>
        <dsp:cNvSpPr/>
      </dsp:nvSpPr>
      <dsp:spPr>
        <a:xfrm>
          <a:off x="2554869" y="1053733"/>
          <a:ext cx="2508324" cy="818796"/>
        </a:xfrm>
        <a:custGeom>
          <a:avLst/>
          <a:gdLst/>
          <a:ahLst/>
          <a:cxnLst/>
          <a:rect l="0" t="0" r="0" b="0"/>
          <a:pathLst>
            <a:path>
              <a:moveTo>
                <a:pt x="2508324" y="0"/>
              </a:moveTo>
              <a:lnTo>
                <a:pt x="2508324" y="656548"/>
              </a:lnTo>
              <a:lnTo>
                <a:pt x="0" y="656548"/>
              </a:lnTo>
              <a:lnTo>
                <a:pt x="0" y="8187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E77657-D943-4637-B19C-CE3A2E4A7263}">
      <dsp:nvSpPr>
        <dsp:cNvPr id="0" name=""/>
        <dsp:cNvSpPr/>
      </dsp:nvSpPr>
      <dsp:spPr>
        <a:xfrm>
          <a:off x="4187492" y="-58406"/>
          <a:ext cx="1751401" cy="1112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77455-DCA0-43A2-9D3B-46576B7487C9}">
      <dsp:nvSpPr>
        <dsp:cNvPr id="0" name=""/>
        <dsp:cNvSpPr/>
      </dsp:nvSpPr>
      <dsp:spPr>
        <a:xfrm>
          <a:off x="4382093" y="126463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</a:t>
          </a:r>
          <a:r>
            <a:rPr lang="en-US" sz="1900" kern="1200" baseline="-25000"/>
            <a:t>G</a:t>
          </a:r>
          <a:endParaRPr lang="en-US" sz="1900" kern="1200"/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0.23x10</a:t>
          </a:r>
          <a:r>
            <a:rPr lang="en-US" sz="1900" kern="1200" baseline="30000"/>
            <a:t>6</a:t>
          </a:r>
          <a:r>
            <a:rPr lang="en-US" sz="1900" kern="1200"/>
            <a:t> psi</a:t>
          </a:r>
        </a:p>
      </dsp:txBody>
      <dsp:txXfrm>
        <a:off x="4414666" y="159036"/>
        <a:ext cx="1686255" cy="1046994"/>
      </dsp:txXfrm>
    </dsp:sp>
    <dsp:sp modelId="{BEA181EA-F8DA-4B80-9894-D30997E60AF8}">
      <dsp:nvSpPr>
        <dsp:cNvPr id="0" name=""/>
        <dsp:cNvSpPr/>
      </dsp:nvSpPr>
      <dsp:spPr>
        <a:xfrm>
          <a:off x="1679168" y="1872530"/>
          <a:ext cx="1751401" cy="1112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6E9B8-F0C3-46AB-8183-3133CDCB50D7}">
      <dsp:nvSpPr>
        <dsp:cNvPr id="0" name=""/>
        <dsp:cNvSpPr/>
      </dsp:nvSpPr>
      <dsp:spPr>
        <a:xfrm>
          <a:off x="1873768" y="2057401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</a:t>
          </a:r>
          <a:r>
            <a:rPr lang="en-US" sz="1900" kern="1200" baseline="-25000"/>
            <a:t>G,sys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0.17x10</a:t>
          </a:r>
          <a:r>
            <a:rPr lang="en-US" sz="1900" kern="1200" baseline="30000"/>
            <a:t>6</a:t>
          </a:r>
          <a:r>
            <a:rPr lang="en-US" sz="1900" kern="1200" baseline="0"/>
            <a:t> psi</a:t>
          </a:r>
        </a:p>
      </dsp:txBody>
      <dsp:txXfrm>
        <a:off x="1906341" y="2089974"/>
        <a:ext cx="1686255" cy="1046994"/>
      </dsp:txXfrm>
    </dsp:sp>
    <dsp:sp modelId="{129A23E1-EDA1-4DFE-A96B-D4E3A3E39B44}">
      <dsp:nvSpPr>
        <dsp:cNvPr id="0" name=""/>
        <dsp:cNvSpPr/>
      </dsp:nvSpPr>
      <dsp:spPr>
        <a:xfrm>
          <a:off x="-194594" y="3824264"/>
          <a:ext cx="1751401" cy="1112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E7D90-7FD8-4279-A748-5F31A5C7CEB0}">
      <dsp:nvSpPr>
        <dsp:cNvPr id="0" name=""/>
        <dsp:cNvSpPr/>
      </dsp:nvSpPr>
      <dsp:spPr>
        <a:xfrm>
          <a:off x="5" y="4009135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</a:t>
          </a:r>
          <a:r>
            <a:rPr lang="en-US" sz="1900" kern="1200" baseline="-25000"/>
            <a:t>F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0.004x10</a:t>
          </a:r>
          <a:r>
            <a:rPr lang="en-US" sz="1900" kern="1200" baseline="30000"/>
            <a:t>6</a:t>
          </a:r>
          <a:r>
            <a:rPr lang="en-US" sz="1900" kern="1200" baseline="0"/>
            <a:t> psi</a:t>
          </a:r>
        </a:p>
      </dsp:txBody>
      <dsp:txXfrm>
        <a:off x="32578" y="4041708"/>
        <a:ext cx="1686255" cy="1046994"/>
      </dsp:txXfrm>
    </dsp:sp>
    <dsp:sp modelId="{8758C877-C91B-48F4-8B3C-7D84EDB9DC2D}">
      <dsp:nvSpPr>
        <dsp:cNvPr id="0" name=""/>
        <dsp:cNvSpPr/>
      </dsp:nvSpPr>
      <dsp:spPr>
        <a:xfrm>
          <a:off x="1892257" y="3824264"/>
          <a:ext cx="1751401" cy="1112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0BA6ED-A06E-4D0B-9826-765498763D99}">
      <dsp:nvSpPr>
        <dsp:cNvPr id="0" name=""/>
        <dsp:cNvSpPr/>
      </dsp:nvSpPr>
      <dsp:spPr>
        <a:xfrm>
          <a:off x="2086857" y="4009135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</a:t>
          </a:r>
          <a:r>
            <a:rPr lang="en-US" sz="1900" kern="1200" baseline="-25000"/>
            <a:t>r,Disc</a:t>
          </a:r>
          <a:endParaRPr lang="en-US" sz="1900" kern="1200" baseline="0"/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&lt;0.001x10</a:t>
          </a:r>
          <a:r>
            <a:rPr lang="en-US" sz="1900" kern="1200" baseline="30000"/>
            <a:t>6</a:t>
          </a:r>
          <a:r>
            <a:rPr lang="en-US" sz="1900" kern="1200" baseline="0"/>
            <a:t> psi</a:t>
          </a:r>
        </a:p>
      </dsp:txBody>
      <dsp:txXfrm>
        <a:off x="2119430" y="4041708"/>
        <a:ext cx="1686255" cy="1046994"/>
      </dsp:txXfrm>
    </dsp:sp>
    <dsp:sp modelId="{7F873A59-CC06-46A8-A4A7-3314C3BE2795}">
      <dsp:nvSpPr>
        <dsp:cNvPr id="0" name=""/>
        <dsp:cNvSpPr/>
      </dsp:nvSpPr>
      <dsp:spPr>
        <a:xfrm>
          <a:off x="3939562" y="3824264"/>
          <a:ext cx="1751401" cy="1112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28D02-3FA8-4465-BF78-6BAF67EB40FE}">
      <dsp:nvSpPr>
        <dsp:cNvPr id="0" name=""/>
        <dsp:cNvSpPr/>
      </dsp:nvSpPr>
      <dsp:spPr>
        <a:xfrm>
          <a:off x="4134162" y="4009135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</a:t>
          </a:r>
          <a:r>
            <a:rPr lang="en-US" sz="1900" kern="1200" baseline="-25000"/>
            <a:t>r,rod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0.05x10</a:t>
          </a:r>
          <a:r>
            <a:rPr lang="en-US" sz="1900" kern="1200" baseline="30000"/>
            <a:t>6</a:t>
          </a:r>
          <a:r>
            <a:rPr lang="en-US" sz="1900" kern="1200" baseline="0"/>
            <a:t> psi</a:t>
          </a:r>
        </a:p>
      </dsp:txBody>
      <dsp:txXfrm>
        <a:off x="4166735" y="4041708"/>
        <a:ext cx="1686255" cy="1046994"/>
      </dsp:txXfrm>
    </dsp:sp>
    <dsp:sp modelId="{48C022CC-E95D-4A4E-BECD-F9CE4553262A}">
      <dsp:nvSpPr>
        <dsp:cNvPr id="0" name=""/>
        <dsp:cNvSpPr/>
      </dsp:nvSpPr>
      <dsp:spPr>
        <a:xfrm>
          <a:off x="6033507" y="3824264"/>
          <a:ext cx="1751401" cy="1112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3BDA9C-70D3-412A-AA10-7DE42C18A90E}">
      <dsp:nvSpPr>
        <dsp:cNvPr id="0" name=""/>
        <dsp:cNvSpPr/>
      </dsp:nvSpPr>
      <dsp:spPr>
        <a:xfrm>
          <a:off x="6228107" y="4009135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</a:t>
          </a:r>
          <a:r>
            <a:rPr lang="en-US" sz="1900" kern="1200" baseline="-25000"/>
            <a:t>L,rod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0.004x10</a:t>
          </a:r>
          <a:r>
            <a:rPr lang="en-US" sz="1900" kern="1200" baseline="30000"/>
            <a:t>6</a:t>
          </a:r>
          <a:r>
            <a:rPr lang="en-US" sz="1900" kern="1200" baseline="0"/>
            <a:t> psi</a:t>
          </a:r>
        </a:p>
      </dsp:txBody>
      <dsp:txXfrm>
        <a:off x="6260680" y="4041708"/>
        <a:ext cx="1686255" cy="1046994"/>
      </dsp:txXfrm>
    </dsp:sp>
    <dsp:sp modelId="{636064E0-C59F-4725-B503-AF8FE7340888}">
      <dsp:nvSpPr>
        <dsp:cNvPr id="0" name=""/>
        <dsp:cNvSpPr/>
      </dsp:nvSpPr>
      <dsp:spPr>
        <a:xfrm>
          <a:off x="8065733" y="3824264"/>
          <a:ext cx="1751401" cy="1112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FB2377-3733-4730-93D5-95E281B1D73E}">
      <dsp:nvSpPr>
        <dsp:cNvPr id="0" name=""/>
        <dsp:cNvSpPr/>
      </dsp:nvSpPr>
      <dsp:spPr>
        <a:xfrm>
          <a:off x="8260333" y="4009135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</a:t>
          </a:r>
          <a:r>
            <a:rPr lang="el-GR" sz="1900" b="0" i="0" kern="1200" baseline="-25000"/>
            <a:t>θ</a:t>
          </a:r>
          <a:endParaRPr lang="en-US" sz="1900" b="0" i="0" kern="1200" baseline="-25000"/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0.16x10</a:t>
          </a:r>
          <a:r>
            <a:rPr lang="en-US" sz="1900" kern="1200" baseline="30000"/>
            <a:t>6</a:t>
          </a:r>
          <a:r>
            <a:rPr lang="en-US" sz="1900" kern="1200" baseline="0"/>
            <a:t> psi</a:t>
          </a:r>
        </a:p>
      </dsp:txBody>
      <dsp:txXfrm>
        <a:off x="8292906" y="4041708"/>
        <a:ext cx="1686255" cy="1046994"/>
      </dsp:txXfrm>
    </dsp:sp>
    <dsp:sp modelId="{DF334235-E40D-48C1-BF0E-FF281EE22C9A}">
      <dsp:nvSpPr>
        <dsp:cNvPr id="0" name=""/>
        <dsp:cNvSpPr/>
      </dsp:nvSpPr>
      <dsp:spPr>
        <a:xfrm>
          <a:off x="6175493" y="1872530"/>
          <a:ext cx="1755640" cy="11155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5BCB2C-C384-4A75-9205-919D1A733102}">
      <dsp:nvSpPr>
        <dsp:cNvPr id="0" name=""/>
        <dsp:cNvSpPr/>
      </dsp:nvSpPr>
      <dsp:spPr>
        <a:xfrm>
          <a:off x="6370093" y="2057401"/>
          <a:ext cx="1755640" cy="1115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W</a:t>
          </a:r>
          <a:r>
            <a:rPr lang="en-US" sz="1900" b="0" i="0" kern="1200" baseline="-25000"/>
            <a:t>G,rand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0.15x10</a:t>
          </a:r>
          <a:r>
            <a:rPr lang="en-US" sz="1900" kern="1200" baseline="30000"/>
            <a:t>5</a:t>
          </a:r>
          <a:r>
            <a:rPr lang="en-US" sz="1900" kern="1200" baseline="0"/>
            <a:t> psi</a:t>
          </a:r>
        </a:p>
      </dsp:txBody>
      <dsp:txXfrm>
        <a:off x="6402767" y="2090075"/>
        <a:ext cx="1690292" cy="10502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3867B-7D85-465F-877C-B2C53D89F2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630F1-E674-4F3F-A120-E105990A1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68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Speaking </a:t>
            </a:r>
            <a:r>
              <a:rPr lang="en-US" dirty="0" err="1"/>
              <a:t>evan</a:t>
            </a:r>
            <a:endParaRPr lang="en-US" dirty="0"/>
          </a:p>
          <a:p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- YOU HAVE A MAX OF 1 MIN PER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11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Speaking</a:t>
            </a:r>
          </a:p>
          <a:p>
            <a:pPr marL="171450" indent="-171450">
              <a:buFontTx/>
              <a:buChar char="-"/>
            </a:pPr>
            <a:r>
              <a:rPr lang="en-US" dirty="0"/>
              <a:t>(Person 1)</a:t>
            </a:r>
          </a:p>
          <a:p>
            <a:pPr marL="171450" indent="-171450">
              <a:buFontTx/>
              <a:buChar char="-"/>
            </a:pPr>
            <a:r>
              <a:rPr lang="en-US" dirty="0"/>
              <a:t>Go from left to right</a:t>
            </a:r>
          </a:p>
          <a:p>
            <a:pPr marL="171450" indent="-171450">
              <a:buFontTx/>
              <a:buChar char="-"/>
            </a:pPr>
            <a:r>
              <a:rPr lang="en-US" dirty="0"/>
              <a:t>From top to bottom</a:t>
            </a:r>
          </a:p>
          <a:p>
            <a:pPr marL="171450" indent="-171450">
              <a:buFontTx/>
              <a:buChar char="-"/>
            </a:pPr>
            <a:r>
              <a:rPr lang="en-US" dirty="0"/>
              <a:t>Explain how each one is a measurand and how the symbols are used to refer to each one in the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29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Speak </a:t>
            </a:r>
          </a:p>
          <a:p>
            <a:pPr marL="171450" indent="-171450">
              <a:buFontTx/>
              <a:buChar char="-"/>
            </a:pPr>
            <a:r>
              <a:rPr lang="en-US" dirty="0"/>
              <a:t>Person 2</a:t>
            </a:r>
          </a:p>
          <a:p>
            <a:pPr marL="171450" indent="-171450">
              <a:buFontTx/>
              <a:buChar char="-"/>
            </a:pPr>
            <a:r>
              <a:rPr lang="en-US" dirty="0"/>
              <a:t>Don’t explain too much since you should mostly explain this on the slide before</a:t>
            </a:r>
          </a:p>
          <a:p>
            <a:pPr marL="171450" indent="-171450">
              <a:buFontTx/>
              <a:buChar char="-"/>
            </a:pPr>
            <a:r>
              <a:rPr lang="en-US" dirty="0"/>
              <a:t>Maybe go into the zero balance a bit</a:t>
            </a:r>
          </a:p>
          <a:p>
            <a:pPr marL="171450" indent="-171450">
              <a:buFontTx/>
              <a:buChar char="-"/>
            </a:pPr>
            <a:r>
              <a:rPr lang="en-US" dirty="0"/>
              <a:t>Mention how step five was not completed until a shakedown had been done and validated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10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(Person 2)   Potentially add in another picture of our apparatus</a:t>
            </a:r>
          </a:p>
          <a:p>
            <a:pPr marL="171450" indent="-171450">
              <a:buFontTx/>
              <a:buChar char="-"/>
            </a:pPr>
            <a:r>
              <a:rPr lang="en-US" dirty="0"/>
              <a:t>Mention how this is from statics 2 and how this equation is actually derived from another one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are implying that we derived our DRE to fit our measurands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14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1</a:t>
            </a:r>
          </a:p>
          <a:p>
            <a:pPr marL="171450" indent="-171450">
              <a:buFontTx/>
              <a:buChar char="-"/>
            </a:pPr>
            <a:r>
              <a:rPr lang="en-US" dirty="0"/>
              <a:t>Quick slide that can mention our shakedown values and systematic uncertainty resultant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3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1</a:t>
            </a:r>
          </a:p>
          <a:p>
            <a:r>
              <a:rPr lang="en-US" dirty="0"/>
              <a:t>- Explain how this was just under the 5% standard so we felt it was appropriate to conduct more trials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02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2</a:t>
            </a:r>
          </a:p>
          <a:p>
            <a:r>
              <a:rPr lang="en-US" dirty="0"/>
              <a:t>- Hit on the graphic and standard deviation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59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338F5-4171-4292-5A2E-D4D8198B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3BFAC-C009-6CB6-C8B2-C6479160D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C57967-007F-381A-A24C-06C7B62596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2</a:t>
            </a:r>
          </a:p>
          <a:p>
            <a:r>
              <a:rPr lang="en-US" dirty="0"/>
              <a:t>- Quick slide to show how random was calculated</a:t>
            </a:r>
          </a:p>
          <a:p>
            <a:endParaRPr lang="en-US" dirty="0"/>
          </a:p>
          <a:p>
            <a:r>
              <a:rPr lang="en-US" dirty="0"/>
              <a:t>With a t-value of 2.365, the standard deviation of G from the previous slide, and for 8 trials, we calculated the random uncertainty.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619A7-83AA-A8CE-4343-C928980C3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13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Person 2</a:t>
            </a:r>
          </a:p>
          <a:p>
            <a:pPr marL="171450" indent="-171450">
              <a:buFontTx/>
              <a:buChar char="-"/>
            </a:pPr>
            <a:r>
              <a:rPr lang="en-US" dirty="0"/>
              <a:t>Make sure to mention theta and random for sure</a:t>
            </a:r>
          </a:p>
          <a:p>
            <a:pPr marL="171450" indent="-171450">
              <a:buFontTx/>
              <a:buChar char="-"/>
            </a:pPr>
            <a:r>
              <a:rPr lang="en-US" dirty="0"/>
              <a:t>Mention that the disc had an insignificant role in the total uncertainty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58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1</a:t>
            </a:r>
          </a:p>
          <a:p>
            <a:pPr marL="171450" indent="-171450">
              <a:buFontTx/>
              <a:buChar char="-"/>
            </a:pPr>
            <a:r>
              <a:rPr lang="en-US" dirty="0"/>
              <a:t>Expected it to be higher as we added a lot of random uncertainty</a:t>
            </a:r>
          </a:p>
          <a:p>
            <a:pPr marL="171450" indent="-171450">
              <a:buFontTx/>
              <a:buChar char="-"/>
            </a:pPr>
            <a:r>
              <a:rPr lang="en-US" dirty="0"/>
              <a:t>Feel it was appropriate still and get ready to show why with out 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38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Person 2</a:t>
            </a:r>
          </a:p>
          <a:p>
            <a:pPr marL="171450" indent="-171450">
              <a:buFontTx/>
              <a:buChar char="-"/>
            </a:pPr>
            <a:r>
              <a:rPr lang="en-US" dirty="0"/>
              <a:t>- Deflection angle had the worst sensor to it, which would help a lower random and systematic uncertainty if it were better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8614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“Back-Up” Slide with links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7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Need to put partial </a:t>
            </a:r>
            <a:r>
              <a:rPr lang="en-US" err="1"/>
              <a:t>dif</a:t>
            </a:r>
          </a:p>
          <a:p>
            <a:r>
              <a:rPr lang="en-US"/>
              <a:t>Add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79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AE802-C8B2-F8FA-DE08-67EF56C79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ED73D-3C33-F659-FFE4-03279D5BD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B9FBB-24EF-EAD8-2534-89DC6CF52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Tie in shear modulus equation at the bottom to show how a systematic uncertainty in the rod radius propagates so far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92198-BFB5-20BB-3D1C-29509A441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7297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086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353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Tau/J is just F/A</a:t>
            </a:r>
          </a:p>
          <a:p>
            <a:pPr marL="171450" indent="-171450">
              <a:buFontTx/>
              <a:buChar char="-"/>
            </a:pPr>
            <a:r>
              <a:rPr lang="en-US" dirty="0"/>
              <a:t>Tan(theta)/L is just change in length over original length</a:t>
            </a:r>
          </a:p>
          <a:p>
            <a:pPr marL="171450" indent="-171450">
              <a:buFontTx/>
              <a:buChar char="-"/>
            </a:pPr>
            <a:r>
              <a:rPr lang="en-US" dirty="0"/>
              <a:t> You can explain this and just mention its circular instead of square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34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630F1-E674-4F3F-A120-E105990A16F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54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E41F8-79D0-F055-3701-31E85D27E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0A076-00CE-8712-D73C-54B58B23D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FFF77-2C5E-5491-7B2E-1D5FE8552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7F61-2291-48B1-B8D7-2BC9F9A6BA4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38370-F40F-F75F-AA2B-46D327900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F6D82-1ED7-2339-9F04-911AEAC5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1D48-F219-4E4B-8990-D81932FC5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98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D44BB-FE60-792E-996C-50031D2ED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A1F40-002B-FA9B-189E-0AA005E17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E19FA-51D6-F9CF-8679-CD4A33F8C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7F61-2291-48B1-B8D7-2BC9F9A6BA4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8534F-47BF-A015-98AC-FB10687D0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3B183-D266-4846-AECE-FF2EA1EA1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1D48-F219-4E4B-8990-D81932FC5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59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437C4-57B0-C399-85A5-3AF89E97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ED993-B79B-30AC-9B55-ECA710DA7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5DD85-2B89-D55C-9675-807379E8E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7F61-2291-48B1-B8D7-2BC9F9A6BA4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0B2F3-9066-1F63-BBD0-B1791BB4D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BA0C6-19D4-A762-936E-9A3E6BA22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1D48-F219-4E4B-8990-D81932FC5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65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21B8C-F41B-7D7F-E7EE-D489B2182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EF774-6387-B361-C3A2-FFC95203AE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FD600-3DC4-0EBB-E559-58096E229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5FECF-ABEF-891E-4E60-9762C43EC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7F61-2291-48B1-B8D7-2BC9F9A6BA4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BB6EB-3830-8B38-57A9-8EB18978C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BDF24-5B3D-5DC9-0E6E-994311B9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1D48-F219-4E4B-8990-D81932FC5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1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CE5EE-7680-768C-B41C-6A65B156D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D1F7C-3D47-DEAD-258B-999C5E9C9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CF8CA-3D48-DA9F-96A0-BD1A54EB9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1D596-A4F8-F3A8-EC5F-A71A4EF22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D9757-A913-F959-97D0-CFD2B0269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2FFEB7-402A-BE08-F744-F09FCC10E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7F61-2291-48B1-B8D7-2BC9F9A6BA4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9629F8-3CEF-53A7-9E97-5B770BA11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5006C-930E-80C7-B46E-41011B01E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1D48-F219-4E4B-8990-D81932FC5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08CC-8555-66ED-8FB0-B3190AB87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BF946-DD8C-D9AE-B7C2-42AE6065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7F61-2291-48B1-B8D7-2BC9F9A6BA4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B6FC66-5860-0D75-21CD-4139D0DCC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BED83-A0B6-AC0F-5EA5-69454B6C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1D48-F219-4E4B-8990-D81932FC5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5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48093-E9D6-8B91-1E6F-CB65EA468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7F61-2291-48B1-B8D7-2BC9F9A6BA4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57F0DF-5A4C-9A02-AADB-F97EC01A3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B7B47-3910-E25E-2E91-D9A7AADC7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1D48-F219-4E4B-8990-D81932FC5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40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65983-8E43-6D8F-6ABB-A78E3B44D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40693-3C70-C808-9623-82F9A07F7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8DDE8-8E3B-2C27-DB73-838A68B1F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FB6B2-6D02-43DA-E845-E1A69936A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7F61-2291-48B1-B8D7-2BC9F9A6BA4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8B154-CA54-53A2-372F-451C7101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6F202-FD62-0D75-4AF8-7CAA327E2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1D48-F219-4E4B-8990-D81932FC5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74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B95F9-3674-BA63-1B7E-AF754E156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A7B8DA-743B-268F-6C59-705BE64356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46063-BE7C-BF2D-E8FC-12470AF2B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E27-D1D6-6981-F62E-BED64DCD3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7F61-2291-48B1-B8D7-2BC9F9A6BA4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9331A-5F4E-C9CD-F74F-EF7DED8BF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25908-FAB0-41F3-11A5-5F004F8BB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1D48-F219-4E4B-8990-D81932FC5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27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F097-E54B-64D4-7171-445118B33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2B3B8-FD04-D4A2-8DA7-5209FEEBC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1C083-7C30-279F-F387-29D607930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7F61-2291-48B1-B8D7-2BC9F9A6BA4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E51E2-152E-B7F4-C1EE-E518938E0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C22BF-8572-2D7C-E418-5330F2D46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1D48-F219-4E4B-8990-D81932FC5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5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2EAF8F-8E2B-0F72-CF38-5A25CCC29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414CA-353D-5F67-5B3F-52AA7A85D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A0DAE-A187-4108-2BF7-555946023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7F61-2291-48B1-B8D7-2BC9F9A6BA4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A6059-FFE7-3B54-190D-DD5758BBD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9FCF2-6B52-7544-3429-F2284DA0A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1D48-F219-4E4B-8990-D81932FC5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78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A95BC5-D818-C972-2B21-9C99D5DBD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7CA99-B3E5-EEC2-0142-35DC55BD7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71703-1CE2-53F9-A673-3945E1A1E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3A7F61-2291-48B1-B8D7-2BC9F9A6BA4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2F31A-9CC2-92BA-255E-C38FDE2C0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2B753-51A9-C2C1-589A-99E26C36C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31D48-F219-4E4B-8990-D81932FC5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8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14.xml"/><Relationship Id="rId7" Type="http://schemas.openxmlformats.org/officeDocument/2006/relationships/slide" Target="slide1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1.xml"/><Relationship Id="rId5" Type="http://schemas.openxmlformats.org/officeDocument/2006/relationships/slide" Target="slide19.xml"/><Relationship Id="rId4" Type="http://schemas.openxmlformats.org/officeDocument/2006/relationships/slide" Target="slide16.xml"/><Relationship Id="rId9" Type="http://schemas.openxmlformats.org/officeDocument/2006/relationships/slide" Target="slide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image" Target="../media/image27.png"/><Relationship Id="rId4" Type="http://schemas.openxmlformats.org/officeDocument/2006/relationships/image" Target="../media/image2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asm.matweb.com/search/specificmaterial.asp?bassnum=ma6061t6" TargetMode="External"/><Relationship Id="rId1" Type="http://schemas.openxmlformats.org/officeDocument/2006/relationships/slideLayout" Target="../slideLayouts/slideLayout2.xml"/><Relationship Id="rId5" Type="http://schemas.openxmlformats.org/officeDocument/2006/relationships/slide" Target="slide13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7" Type="http://schemas.openxmlformats.org/officeDocument/2006/relationships/slide" Target="slide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3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xometry.com/resources/3d-printing/what-is-shear-modulus" TargetMode="External"/><Relationship Id="rId2" Type="http://schemas.openxmlformats.org/officeDocument/2006/relationships/hyperlink" Target="https://www.researchgate.net/publication/334465619_MATERIALS_SCIENCE_AND_ENGINEE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717F0-DEFC-7650-E875-ACB0AF7834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Finding Shear Modulus With A Torsional Experiment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375A6-75BC-5247-5D1C-9A11476C13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Evan Galloway, Alex Huynh, Dale Loveland, Tyson Patterson</a:t>
            </a:r>
          </a:p>
          <a:p>
            <a:r>
              <a:rPr lang="en-US" dirty="0"/>
              <a:t>ME321: Measurement Systems</a:t>
            </a:r>
          </a:p>
          <a:p>
            <a:r>
              <a:rPr lang="en-US" dirty="0"/>
              <a:t>1/16/2026</a:t>
            </a:r>
          </a:p>
        </p:txBody>
      </p:sp>
    </p:spTree>
    <p:extLst>
      <p:ext uri="{BB962C8B-B14F-4D97-AF65-F5344CB8AC3E}">
        <p14:creationId xmlns:p14="http://schemas.microsoft.com/office/powerpoint/2010/main" val="1850133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58D77-19F8-6EF5-9114-0569936E9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69" y="325606"/>
            <a:ext cx="11708802" cy="1325563"/>
          </a:xfrm>
        </p:spPr>
        <p:txBody>
          <a:bodyPr/>
          <a:lstStyle/>
          <a:p>
            <a:r>
              <a:rPr lang="en-US" dirty="0"/>
              <a:t>A torsional beam tester was used to find the shear modulus of a metal rod.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26F2A84-C80E-2918-4C61-560560B1E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68248" y="1808480"/>
            <a:ext cx="5077796" cy="4552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4C2A2B-E47D-920E-ADE7-BEC8B1A9AE77}"/>
                  </a:ext>
                </a:extLst>
              </p:cNvPr>
              <p:cNvSpPr txBox="1"/>
              <p:nvPr/>
            </p:nvSpPr>
            <p:spPr>
              <a:xfrm>
                <a:off x="268669" y="5213892"/>
                <a:ext cx="1754864" cy="578882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800">
                    <a:solidFill>
                      <a:schemeClr val="tx1"/>
                    </a:solidFill>
                  </a:rPr>
                  <a:t>Force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80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4C2A2B-E47D-920E-ADE7-BEC8B1A9A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69" y="5213892"/>
                <a:ext cx="1754864" cy="578882"/>
              </a:xfrm>
              <a:prstGeom prst="roundRect">
                <a:avLst/>
              </a:prstGeom>
              <a:blipFill>
                <a:blip r:embed="rId4"/>
                <a:stretch>
                  <a:fillRect l="-5172" t="-4124" b="-23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949602-AE69-4B84-CC95-4B2EEBA6F04C}"/>
                  </a:ext>
                </a:extLst>
              </p:cNvPr>
              <p:cNvSpPr txBox="1"/>
              <p:nvPr/>
            </p:nvSpPr>
            <p:spPr>
              <a:xfrm>
                <a:off x="149938" y="1771723"/>
                <a:ext cx="3380662" cy="578882"/>
              </a:xfrm>
              <a:prstGeom prst="round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ysClr val="windowText" lastClr="000000"/>
                    </a:solidFill>
                  </a:rPr>
                  <a:t> Deflection Angle(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800" dirty="0">
                    <a:solidFill>
                      <a:sysClr val="windowText" lastClr="00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949602-AE69-4B84-CC95-4B2EEBA6F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38" y="1771723"/>
                <a:ext cx="3380662" cy="578882"/>
              </a:xfrm>
              <a:prstGeom prst="roundRect">
                <a:avLst/>
              </a:prstGeom>
              <a:blipFill>
                <a:blip r:embed="rId5"/>
                <a:stretch>
                  <a:fillRect l="-540" t="-5155" b="-2164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D6A51D-88A5-10FD-1DCA-B6CE554FE561}"/>
                  </a:ext>
                </a:extLst>
              </p:cNvPr>
              <p:cNvSpPr txBox="1"/>
              <p:nvPr/>
            </p:nvSpPr>
            <p:spPr>
              <a:xfrm>
                <a:off x="149938" y="2783797"/>
                <a:ext cx="3209853" cy="578882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tx1"/>
                    </a:solidFill>
                  </a:rPr>
                  <a:t> Disc Radius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𝐷𝑖𝑠𝑐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D6A51D-88A5-10FD-1DCA-B6CE554FE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38" y="2783797"/>
                <a:ext cx="3209853" cy="578882"/>
              </a:xfrm>
              <a:prstGeom prst="roundRect">
                <a:avLst/>
              </a:prstGeom>
              <a:blipFill>
                <a:blip r:embed="rId6"/>
                <a:stretch>
                  <a:fillRect l="-568" t="-5155" b="-21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CC971C-5F7C-7BC3-87CA-150B7ACF8FEC}"/>
                  </a:ext>
                </a:extLst>
              </p:cNvPr>
              <p:cNvSpPr txBox="1"/>
              <p:nvPr/>
            </p:nvSpPr>
            <p:spPr>
              <a:xfrm>
                <a:off x="4987856" y="1746792"/>
                <a:ext cx="3126315" cy="578882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800">
                    <a:solidFill>
                      <a:schemeClr val="tx1"/>
                    </a:solidFill>
                  </a:rPr>
                  <a:t>Rod Length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𝑟𝑜𝑑</m:t>
                        </m:r>
                      </m:sub>
                    </m:sSub>
                  </m:oMath>
                </a14:m>
                <a:r>
                  <a:rPr lang="en-US" sz="280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CC971C-5F7C-7BC3-87CA-150B7ACF8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856" y="1746792"/>
                <a:ext cx="3126315" cy="578882"/>
              </a:xfrm>
              <a:prstGeom prst="roundRect">
                <a:avLst/>
              </a:prstGeom>
              <a:blipFill>
                <a:blip r:embed="rId7"/>
                <a:stretch>
                  <a:fillRect l="-2913" t="-4124" b="-22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923D82-B0D8-ECF8-6A3C-22C19772ECC1}"/>
                  </a:ext>
                </a:extLst>
              </p:cNvPr>
              <p:cNvSpPr txBox="1"/>
              <p:nvPr/>
            </p:nvSpPr>
            <p:spPr>
              <a:xfrm>
                <a:off x="8594892" y="4332194"/>
                <a:ext cx="2984496" cy="578882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800">
                    <a:solidFill>
                      <a:schemeClr val="tx1"/>
                    </a:solidFill>
                  </a:rPr>
                  <a:t>Rod Radius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𝑟𝑜𝑑</m:t>
                        </m:r>
                      </m:sub>
                    </m:sSub>
                  </m:oMath>
                </a14:m>
                <a:r>
                  <a:rPr lang="en-US" sz="280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923D82-B0D8-ECF8-6A3C-22C19772E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892" y="4332194"/>
                <a:ext cx="2984496" cy="578882"/>
              </a:xfrm>
              <a:prstGeom prst="roundRect">
                <a:avLst/>
              </a:prstGeom>
              <a:blipFill>
                <a:blip r:embed="rId8"/>
                <a:stretch>
                  <a:fillRect l="-3049" t="-4124" b="-22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A30D8484-8486-49BA-3033-78E3664BBC22}"/>
              </a:ext>
            </a:extLst>
          </p:cNvPr>
          <p:cNvSpPr/>
          <p:nvPr/>
        </p:nvSpPr>
        <p:spPr>
          <a:xfrm>
            <a:off x="9233477" y="2291885"/>
            <a:ext cx="1448427" cy="13995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7FFD60-A47B-ED18-6288-8F5159BFAF17}"/>
              </a:ext>
            </a:extLst>
          </p:cNvPr>
          <p:cNvCxnSpPr>
            <a:cxnSpLocks/>
          </p:cNvCxnSpPr>
          <p:nvPr/>
        </p:nvCxnSpPr>
        <p:spPr>
          <a:xfrm>
            <a:off x="3044952" y="2300352"/>
            <a:ext cx="765048" cy="531385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D6E1B2-405F-25CC-6730-331819672F98}"/>
              </a:ext>
            </a:extLst>
          </p:cNvPr>
          <p:cNvCxnSpPr>
            <a:cxnSpLocks/>
          </p:cNvCxnSpPr>
          <p:nvPr/>
        </p:nvCxnSpPr>
        <p:spPr>
          <a:xfrm>
            <a:off x="1899920" y="5503333"/>
            <a:ext cx="157546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8833D98-3C27-E22A-2C57-543B2D3FADEC}"/>
              </a:ext>
            </a:extLst>
          </p:cNvPr>
          <p:cNvCxnSpPr>
            <a:cxnSpLocks/>
          </p:cNvCxnSpPr>
          <p:nvPr/>
        </p:nvCxnSpPr>
        <p:spPr>
          <a:xfrm flipH="1">
            <a:off x="6245860" y="2263986"/>
            <a:ext cx="78740" cy="160326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8F11CAA-FB3C-0EC2-66C2-885C00AEC46E}"/>
              </a:ext>
            </a:extLst>
          </p:cNvPr>
          <p:cNvCxnSpPr/>
          <p:nvPr/>
        </p:nvCxnSpPr>
        <p:spPr>
          <a:xfrm flipH="1" flipV="1">
            <a:off x="4917440" y="2720340"/>
            <a:ext cx="2656840" cy="77216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C9F628-D39A-33AB-AD89-51747E079EC1}"/>
              </a:ext>
            </a:extLst>
          </p:cNvPr>
          <p:cNvCxnSpPr>
            <a:cxnSpLocks/>
          </p:cNvCxnSpPr>
          <p:nvPr/>
        </p:nvCxnSpPr>
        <p:spPr>
          <a:xfrm flipH="1" flipV="1">
            <a:off x="3264265" y="3165323"/>
            <a:ext cx="887241" cy="526155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0DCD530-819C-E407-A344-88A16BCFA1C9}"/>
              </a:ext>
            </a:extLst>
          </p:cNvPr>
          <p:cNvCxnSpPr>
            <a:cxnSpLocks/>
          </p:cNvCxnSpPr>
          <p:nvPr/>
        </p:nvCxnSpPr>
        <p:spPr>
          <a:xfrm>
            <a:off x="3810000" y="3670131"/>
            <a:ext cx="643467" cy="42694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16A60C2-2C16-D45A-0D8A-39B198D14364}"/>
              </a:ext>
            </a:extLst>
          </p:cNvPr>
          <p:cNvCxnSpPr>
            <a:cxnSpLocks/>
          </p:cNvCxnSpPr>
          <p:nvPr/>
        </p:nvCxnSpPr>
        <p:spPr>
          <a:xfrm>
            <a:off x="4987856" y="3712825"/>
            <a:ext cx="2430996" cy="31173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29F339F-4489-8043-FD2F-3A712340C7E1}"/>
              </a:ext>
            </a:extLst>
          </p:cNvPr>
          <p:cNvCxnSpPr>
            <a:cxnSpLocks/>
          </p:cNvCxnSpPr>
          <p:nvPr/>
        </p:nvCxnSpPr>
        <p:spPr>
          <a:xfrm flipH="1">
            <a:off x="10010139" y="2991681"/>
            <a:ext cx="67176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F4A56C9-C48A-EFCE-72C3-723D89B3B6BB}"/>
              </a:ext>
            </a:extLst>
          </p:cNvPr>
          <p:cNvCxnSpPr>
            <a:cxnSpLocks/>
          </p:cNvCxnSpPr>
          <p:nvPr/>
        </p:nvCxnSpPr>
        <p:spPr>
          <a:xfrm flipV="1">
            <a:off x="10271760" y="2991681"/>
            <a:ext cx="42925" cy="141572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Partial Circle 59">
            <a:extLst>
              <a:ext uri="{FF2B5EF4-FFF2-40B4-BE49-F238E27FC236}">
                <a16:creationId xmlns:a16="http://schemas.microsoft.com/office/drawing/2014/main" id="{4A715B24-7E65-CBD3-1F36-3D23F2BCC6A5}"/>
              </a:ext>
            </a:extLst>
          </p:cNvPr>
          <p:cNvSpPr/>
          <p:nvPr/>
        </p:nvSpPr>
        <p:spPr>
          <a:xfrm>
            <a:off x="9957690" y="2977176"/>
            <a:ext cx="52449" cy="45719"/>
          </a:xfrm>
          <a:prstGeom prst="pi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75AEAA61-1BB0-3EDC-72DD-7C23E2A7A0A9}"/>
              </a:ext>
            </a:extLst>
          </p:cNvPr>
          <p:cNvSpPr/>
          <p:nvPr/>
        </p:nvSpPr>
        <p:spPr>
          <a:xfrm>
            <a:off x="3327455" y="5792774"/>
            <a:ext cx="484632" cy="97840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4BC7C709-53B6-8892-4547-FAB3993EC663}"/>
              </a:ext>
            </a:extLst>
          </p:cNvPr>
          <p:cNvSpPr/>
          <p:nvPr/>
        </p:nvSpPr>
        <p:spPr>
          <a:xfrm flipH="1">
            <a:off x="5533573" y="3338430"/>
            <a:ext cx="658640" cy="927539"/>
          </a:xfrm>
          <a:prstGeom prst="circularArrow">
            <a:avLst>
              <a:gd name="adj1" fmla="val 11978"/>
              <a:gd name="adj2" fmla="val 1890097"/>
              <a:gd name="adj3" fmla="val 18714126"/>
              <a:gd name="adj4" fmla="val 5232381"/>
              <a:gd name="adj5" fmla="val 1250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DDA0BA-2105-A750-EB7F-BB138D30E61C}"/>
              </a:ext>
            </a:extLst>
          </p:cNvPr>
          <p:cNvSpPr txBox="1"/>
          <p:nvPr/>
        </p:nvSpPr>
        <p:spPr>
          <a:xfrm>
            <a:off x="3044952" y="5845669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A9AEB8-D836-5ED8-0B93-54E2F2D676D1}"/>
              </a:ext>
            </a:extLst>
          </p:cNvPr>
          <p:cNvSpPr txBox="1"/>
          <p:nvPr/>
        </p:nvSpPr>
        <p:spPr>
          <a:xfrm>
            <a:off x="3962993" y="479116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C1808B-8969-36AF-A566-3A24FBDFB82E}"/>
              </a:ext>
            </a:extLst>
          </p:cNvPr>
          <p:cNvSpPr txBox="1"/>
          <p:nvPr/>
        </p:nvSpPr>
        <p:spPr>
          <a:xfrm>
            <a:off x="5434407" y="4070584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3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3EA0858-240B-6589-13C0-3B3381B3885D}"/>
              </a:ext>
            </a:extLst>
          </p:cNvPr>
          <p:cNvSpPr/>
          <p:nvPr/>
        </p:nvSpPr>
        <p:spPr>
          <a:xfrm>
            <a:off x="4931664" y="2627376"/>
            <a:ext cx="2779776" cy="865632"/>
          </a:xfrm>
          <a:custGeom>
            <a:avLst/>
            <a:gdLst>
              <a:gd name="csX0" fmla="*/ 0 w 2779776"/>
              <a:gd name="csY0" fmla="*/ 115824 h 865632"/>
              <a:gd name="csX1" fmla="*/ 6096 w 2779776"/>
              <a:gd name="csY1" fmla="*/ 0 h 865632"/>
              <a:gd name="csX2" fmla="*/ 2779776 w 2779776"/>
              <a:gd name="csY2" fmla="*/ 841248 h 865632"/>
              <a:gd name="csX3" fmla="*/ 2645664 w 2779776"/>
              <a:gd name="csY3" fmla="*/ 865632 h 865632"/>
              <a:gd name="csX4" fmla="*/ 0 w 2779776"/>
              <a:gd name="csY4" fmla="*/ 115824 h 865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79776" h="865632">
                <a:moveTo>
                  <a:pt x="0" y="115824"/>
                </a:moveTo>
                <a:lnTo>
                  <a:pt x="6096" y="0"/>
                </a:lnTo>
                <a:lnTo>
                  <a:pt x="2779776" y="841248"/>
                </a:lnTo>
                <a:lnTo>
                  <a:pt x="2645664" y="865632"/>
                </a:lnTo>
                <a:lnTo>
                  <a:pt x="0" y="115824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219CE1E-86EC-A969-BED8-298CDF5CFA13}"/>
              </a:ext>
            </a:extLst>
          </p:cNvPr>
          <p:cNvSpPr/>
          <p:nvPr/>
        </p:nvSpPr>
        <p:spPr>
          <a:xfrm>
            <a:off x="4261104" y="2036064"/>
            <a:ext cx="487680" cy="4187952"/>
          </a:xfrm>
          <a:custGeom>
            <a:avLst/>
            <a:gdLst>
              <a:gd name="csX0" fmla="*/ 0 w 487680"/>
              <a:gd name="csY0" fmla="*/ 0 h 4187952"/>
              <a:gd name="csX1" fmla="*/ 219456 w 487680"/>
              <a:gd name="csY1" fmla="*/ 30480 h 4187952"/>
              <a:gd name="csX2" fmla="*/ 487680 w 487680"/>
              <a:gd name="csY2" fmla="*/ 4187952 h 4187952"/>
              <a:gd name="csX3" fmla="*/ 298704 w 487680"/>
              <a:gd name="csY3" fmla="*/ 4187952 h 4187952"/>
              <a:gd name="csX4" fmla="*/ 176784 w 487680"/>
              <a:gd name="csY4" fmla="*/ 2566416 h 4187952"/>
              <a:gd name="csX5" fmla="*/ 146304 w 487680"/>
              <a:gd name="csY5" fmla="*/ 2145792 h 4187952"/>
              <a:gd name="csX6" fmla="*/ 213360 w 487680"/>
              <a:gd name="csY6" fmla="*/ 1944624 h 4187952"/>
              <a:gd name="csX7" fmla="*/ 213360 w 487680"/>
              <a:gd name="csY7" fmla="*/ 1834896 h 4187952"/>
              <a:gd name="csX8" fmla="*/ 225552 w 487680"/>
              <a:gd name="csY8" fmla="*/ 1725168 h 4187952"/>
              <a:gd name="csX9" fmla="*/ 237744 w 487680"/>
              <a:gd name="csY9" fmla="*/ 1621536 h 4187952"/>
              <a:gd name="csX10" fmla="*/ 219456 w 487680"/>
              <a:gd name="csY10" fmla="*/ 1493520 h 4187952"/>
              <a:gd name="csX11" fmla="*/ 195072 w 487680"/>
              <a:gd name="csY11" fmla="*/ 1347216 h 4187952"/>
              <a:gd name="csX12" fmla="*/ 152400 w 487680"/>
              <a:gd name="csY12" fmla="*/ 1219200 h 4187952"/>
              <a:gd name="csX13" fmla="*/ 60960 w 487680"/>
              <a:gd name="csY13" fmla="*/ 1085088 h 4187952"/>
              <a:gd name="csX14" fmla="*/ 0 w 487680"/>
              <a:gd name="csY14" fmla="*/ 0 h 41879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87680" h="4187952">
                <a:moveTo>
                  <a:pt x="0" y="0"/>
                </a:moveTo>
                <a:lnTo>
                  <a:pt x="219456" y="30480"/>
                </a:lnTo>
                <a:lnTo>
                  <a:pt x="487680" y="4187952"/>
                </a:lnTo>
                <a:lnTo>
                  <a:pt x="298704" y="4187952"/>
                </a:lnTo>
                <a:lnTo>
                  <a:pt x="176784" y="2566416"/>
                </a:lnTo>
                <a:lnTo>
                  <a:pt x="146304" y="2145792"/>
                </a:lnTo>
                <a:lnTo>
                  <a:pt x="213360" y="1944624"/>
                </a:lnTo>
                <a:lnTo>
                  <a:pt x="213360" y="1834896"/>
                </a:lnTo>
                <a:lnTo>
                  <a:pt x="225552" y="1725168"/>
                </a:lnTo>
                <a:lnTo>
                  <a:pt x="237744" y="1621536"/>
                </a:lnTo>
                <a:lnTo>
                  <a:pt x="219456" y="1493520"/>
                </a:lnTo>
                <a:lnTo>
                  <a:pt x="195072" y="1347216"/>
                </a:lnTo>
                <a:lnTo>
                  <a:pt x="152400" y="1219200"/>
                </a:lnTo>
                <a:lnTo>
                  <a:pt x="60960" y="108508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9C45F51-1601-3DA3-5185-C7A9F5CDC64A}"/>
              </a:ext>
            </a:extLst>
          </p:cNvPr>
          <p:cNvSpPr/>
          <p:nvPr/>
        </p:nvSpPr>
        <p:spPr>
          <a:xfrm>
            <a:off x="7431024" y="5334000"/>
            <a:ext cx="170688" cy="883920"/>
          </a:xfrm>
          <a:custGeom>
            <a:avLst/>
            <a:gdLst>
              <a:gd name="csX0" fmla="*/ 42672 w 170688"/>
              <a:gd name="csY0" fmla="*/ 0 h 883920"/>
              <a:gd name="csX1" fmla="*/ 170688 w 170688"/>
              <a:gd name="csY1" fmla="*/ 12192 h 883920"/>
              <a:gd name="csX2" fmla="*/ 115824 w 170688"/>
              <a:gd name="csY2" fmla="*/ 883920 h 883920"/>
              <a:gd name="csX3" fmla="*/ 0 w 170688"/>
              <a:gd name="csY3" fmla="*/ 871728 h 883920"/>
              <a:gd name="csX4" fmla="*/ 42672 w 170688"/>
              <a:gd name="csY4" fmla="*/ 0 h 883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0688" h="883920">
                <a:moveTo>
                  <a:pt x="42672" y="0"/>
                </a:moveTo>
                <a:lnTo>
                  <a:pt x="170688" y="12192"/>
                </a:lnTo>
                <a:lnTo>
                  <a:pt x="115824" y="883920"/>
                </a:lnTo>
                <a:lnTo>
                  <a:pt x="0" y="871728"/>
                </a:lnTo>
                <a:lnTo>
                  <a:pt x="42672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9425313-0636-339E-3A97-62E2D44A7C1D}"/>
              </a:ext>
            </a:extLst>
          </p:cNvPr>
          <p:cNvCxnSpPr>
            <a:cxnSpLocks/>
          </p:cNvCxnSpPr>
          <p:nvPr/>
        </p:nvCxnSpPr>
        <p:spPr>
          <a:xfrm flipV="1">
            <a:off x="7522464" y="4556760"/>
            <a:ext cx="0" cy="944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D08D7B9-D959-2437-0A37-3C7DBCDB3098}"/>
              </a:ext>
            </a:extLst>
          </p:cNvPr>
          <p:cNvCxnSpPr/>
          <p:nvPr/>
        </p:nvCxnSpPr>
        <p:spPr>
          <a:xfrm>
            <a:off x="7507224" y="4651248"/>
            <a:ext cx="148336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B4964B6-F8AB-856A-7B1B-F61A943B2548}"/>
              </a:ext>
            </a:extLst>
          </p:cNvPr>
          <p:cNvCxnSpPr/>
          <p:nvPr/>
        </p:nvCxnSpPr>
        <p:spPr>
          <a:xfrm>
            <a:off x="7466584" y="4556760"/>
            <a:ext cx="188976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08F9505-27DE-638D-AC1E-B8FD334D2A86}"/>
              </a:ext>
            </a:extLst>
          </p:cNvPr>
          <p:cNvSpPr/>
          <p:nvPr/>
        </p:nvSpPr>
        <p:spPr>
          <a:xfrm>
            <a:off x="7523480" y="3469640"/>
            <a:ext cx="203200" cy="1092200"/>
          </a:xfrm>
          <a:custGeom>
            <a:avLst/>
            <a:gdLst>
              <a:gd name="csX0" fmla="*/ 45720 w 203200"/>
              <a:gd name="csY0" fmla="*/ 35560 h 1092200"/>
              <a:gd name="csX1" fmla="*/ 203200 w 203200"/>
              <a:gd name="csY1" fmla="*/ 0 h 1092200"/>
              <a:gd name="csX2" fmla="*/ 137160 w 203200"/>
              <a:gd name="csY2" fmla="*/ 1092200 h 1092200"/>
              <a:gd name="csX3" fmla="*/ 0 w 203200"/>
              <a:gd name="csY3" fmla="*/ 1087120 h 1092200"/>
              <a:gd name="csX4" fmla="*/ 45720 w 203200"/>
              <a:gd name="csY4" fmla="*/ 35560 h 1092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3200" h="1092200">
                <a:moveTo>
                  <a:pt x="45720" y="35560"/>
                </a:moveTo>
                <a:lnTo>
                  <a:pt x="203200" y="0"/>
                </a:lnTo>
                <a:lnTo>
                  <a:pt x="137160" y="1092200"/>
                </a:lnTo>
                <a:lnTo>
                  <a:pt x="0" y="1087120"/>
                </a:lnTo>
                <a:lnTo>
                  <a:pt x="45720" y="3556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97C3C1E-42BE-7D55-3F27-9AE72DBC9E14}"/>
              </a:ext>
            </a:extLst>
          </p:cNvPr>
          <p:cNvSpPr/>
          <p:nvPr/>
        </p:nvSpPr>
        <p:spPr>
          <a:xfrm>
            <a:off x="7523480" y="4653280"/>
            <a:ext cx="142240" cy="96520"/>
          </a:xfrm>
          <a:custGeom>
            <a:avLst/>
            <a:gdLst>
              <a:gd name="csX0" fmla="*/ 0 w 142240"/>
              <a:gd name="csY0" fmla="*/ 0 h 96520"/>
              <a:gd name="csX1" fmla="*/ 142240 w 142240"/>
              <a:gd name="csY1" fmla="*/ 0 h 96520"/>
              <a:gd name="csX2" fmla="*/ 121920 w 142240"/>
              <a:gd name="csY2" fmla="*/ 96520 h 96520"/>
              <a:gd name="csX3" fmla="*/ 5080 w 142240"/>
              <a:gd name="csY3" fmla="*/ 81280 h 96520"/>
              <a:gd name="csX4" fmla="*/ 0 w 142240"/>
              <a:gd name="csY4" fmla="*/ 0 h 96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2240" h="96520">
                <a:moveTo>
                  <a:pt x="0" y="0"/>
                </a:moveTo>
                <a:lnTo>
                  <a:pt x="142240" y="0"/>
                </a:lnTo>
                <a:lnTo>
                  <a:pt x="121920" y="96520"/>
                </a:lnTo>
                <a:lnTo>
                  <a:pt x="5080" y="812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Circular 13">
            <a:extLst>
              <a:ext uri="{FF2B5EF4-FFF2-40B4-BE49-F238E27FC236}">
                <a16:creationId xmlns:a16="http://schemas.microsoft.com/office/drawing/2014/main" id="{097DB437-8614-720C-0B65-AEC0174637F0}"/>
              </a:ext>
            </a:extLst>
          </p:cNvPr>
          <p:cNvSpPr/>
          <p:nvPr/>
        </p:nvSpPr>
        <p:spPr>
          <a:xfrm rot="851092" flipV="1">
            <a:off x="3606418" y="3598561"/>
            <a:ext cx="1025211" cy="1282586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4234005"/>
              <a:gd name="adj5" fmla="val 1250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410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D64CA-F4F1-7B9D-70A2-BCA9D8234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following procedure was used to collect the experimental data.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E870F-263E-9C79-F3D9-56162DE4F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9733"/>
            <a:ext cx="10515600" cy="4538133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/>
              <a:t>Measured the length and diameter of the metal testing rod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/>
              <a:t>Measured diameter of disc and recorded the zero balance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/>
              <a:t>Applied a controlled constant force of 4.4 </a:t>
            </a:r>
            <a:r>
              <a:rPr lang="en-US" err="1"/>
              <a:t>lbf</a:t>
            </a:r>
            <a:r>
              <a:rPr lang="en-US"/>
              <a:t> by hanging the weight as seen in the previous diagram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/>
              <a:t>Recorded the angular displacement in degrees and compensated for the zero balance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/>
              <a:t>Repeated Steps 3 and 4 for 8 total trials</a:t>
            </a:r>
          </a:p>
        </p:txBody>
      </p:sp>
    </p:spTree>
    <p:extLst>
      <p:ext uri="{BB962C8B-B14F-4D97-AF65-F5344CB8AC3E}">
        <p14:creationId xmlns:p14="http://schemas.microsoft.com/office/powerpoint/2010/main" val="3297049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3C154-C4CC-98F4-222E-FE3260D99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04165"/>
            <a:ext cx="110998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We started with a shear modulus equation that fit our apparatus to derive our Data Reduction Equation to fit with our measurands.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530C37-0696-AABC-0537-D1F8441E1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55478" y="1803430"/>
                <a:ext cx="3681044" cy="953115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Comic Mono" pitchFamily="1" charset="0"/>
                </a:endParaRPr>
              </a:p>
              <a:p>
                <a:pPr marL="0" indent="0" algn="ctr">
                  <a:buNone/>
                </a:pPr>
                <a:endParaRPr lang="en-US" dirty="0">
                  <a:latin typeface="Comic Mono" pitchFamily="1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530C37-0696-AABC-0537-D1F8441E1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55478" y="1803430"/>
                <a:ext cx="3681044" cy="95311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0300AD3-83A1-D845-A2E5-9D8D64699272}"/>
              </a:ext>
            </a:extLst>
          </p:cNvPr>
          <p:cNvSpPr txBox="1"/>
          <p:nvPr/>
        </p:nvSpPr>
        <p:spPr>
          <a:xfrm>
            <a:off x="577365" y="4307066"/>
            <a:ext cx="39184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ambria Math" panose="02040503050406030204" pitchFamily="18" charset="0"/>
                <a:ea typeface="Cambria Math" panose="02040503050406030204" pitchFamily="18" charset="0"/>
              </a:rPr>
              <a:t>G</a:t>
            </a:r>
            <a:r>
              <a:rPr lang="en-US" sz="1600">
                <a:ea typeface="Cambria Math" panose="02040503050406030204" pitchFamily="18" charset="0"/>
              </a:rPr>
              <a:t> : Shear modulus</a:t>
            </a:r>
            <a:endParaRPr lang="en-US" sz="1600"/>
          </a:p>
          <a:p>
            <a:r>
              <a:rPr lang="en-US" sz="2400">
                <a:latin typeface="Cambria Math" panose="02040503050406030204" pitchFamily="18" charset="0"/>
                <a:ea typeface="Cambria Math" panose="02040503050406030204" pitchFamily="18" charset="0"/>
              </a:rPr>
              <a:t>τ</a:t>
            </a:r>
            <a:r>
              <a:rPr lang="en-US" sz="1600"/>
              <a:t>  : torque applied to the rod </a:t>
            </a:r>
          </a:p>
          <a:p>
            <a:r>
              <a:rPr lang="en-US" sz="2400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en-US" sz="1600">
                <a:ea typeface="Cambria Math" panose="02040503050406030204" pitchFamily="18" charset="0"/>
              </a:rPr>
              <a:t> :</a:t>
            </a:r>
            <a:r>
              <a:rPr lang="en-US" sz="1600"/>
              <a:t> length of the rod</a:t>
            </a:r>
          </a:p>
          <a:p>
            <a:r>
              <a:rPr lang="en-US" sz="2400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en-US" sz="1600">
                <a:ea typeface="Cambria Math" panose="02040503050406030204" pitchFamily="18" charset="0"/>
              </a:rPr>
              <a:t> </a:t>
            </a:r>
            <a:r>
              <a:rPr lang="en-US" sz="1600"/>
              <a:t>: polar moment of inertia of a cylinder</a:t>
            </a:r>
          </a:p>
          <a:p>
            <a:r>
              <a:rPr lang="el-GR" sz="2400">
                <a:latin typeface="Cambria Math" panose="02040503050406030204" pitchFamily="18" charset="0"/>
                <a:ea typeface="Cambria Math" panose="02040503050406030204" pitchFamily="18" charset="0"/>
              </a:rPr>
              <a:t>θ</a:t>
            </a:r>
            <a:r>
              <a:rPr lang="en-US" sz="1600">
                <a:ea typeface="Cambria Math" panose="02040503050406030204" pitchFamily="18" charset="0"/>
              </a:rPr>
              <a:t> </a:t>
            </a:r>
            <a:r>
              <a:rPr lang="en-US" sz="1600"/>
              <a:t>: angular displacement </a:t>
            </a:r>
          </a:p>
          <a:p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455D5A-36FA-7792-CEF9-19D3697BBCBB}"/>
                  </a:ext>
                </a:extLst>
              </p:cNvPr>
              <p:cNvSpPr txBox="1"/>
              <p:nvPr/>
            </p:nvSpPr>
            <p:spPr>
              <a:xfrm>
                <a:off x="3937000" y="2951619"/>
                <a:ext cx="2159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𝜏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𝑑𝑖𝑠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455D5A-36FA-7792-CEF9-19D3697BB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000" y="2951619"/>
                <a:ext cx="21590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3E9E04-A70B-7FB2-4EBF-D2ECCB5DE051}"/>
                  </a:ext>
                </a:extLst>
              </p:cNvPr>
              <p:cNvSpPr txBox="1"/>
              <p:nvPr/>
            </p:nvSpPr>
            <p:spPr>
              <a:xfrm>
                <a:off x="6598920" y="2881311"/>
                <a:ext cx="2006600" cy="663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𝐽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num>
                      <m:den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</m:oMath>
                </a14:m>
                <a:r>
                  <a:rPr kumimoji="0" 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𝑟𝑜𝑑</m:t>
                        </m:r>
                      </m:sub>
                      <m: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p>
                    </m:sSubSup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3E9E04-A70B-7FB2-4EBF-D2ECCB5DE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920" y="2881311"/>
                <a:ext cx="2006600" cy="6638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919F8E-0BAE-9278-3E35-3F13130F887E}"/>
                  </a:ext>
                </a:extLst>
              </p:cNvPr>
              <p:cNvSpPr txBox="1"/>
              <p:nvPr/>
            </p:nvSpPr>
            <p:spPr>
              <a:xfrm>
                <a:off x="4495800" y="4008128"/>
                <a:ext cx="3200400" cy="1010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𝐺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𝑑𝑖𝑠𝑐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𝑟𝑜𝑑</m:t>
                              </m:r>
                            </m:sub>
                          </m:sSub>
                        </m:num>
                        <m:den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𝜋</m:t>
                          </m:r>
                          <m:sSubSup>
                            <m:sSub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𝑟𝑜𝑑</m:t>
                              </m:r>
                            </m:sub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p>
                          </m:sSub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919F8E-0BAE-9278-3E35-3F13130F8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4008128"/>
                <a:ext cx="3200400" cy="10102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86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2A7D-611C-9705-1A85-A6F644C5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After recording a value for each measurand from the data reduction equation, a resultant was found for shear modulus.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2E22EE0-F556-E098-31E3-66B2D9AF57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2380175"/>
                  </p:ext>
                </p:extLst>
              </p:nvPr>
            </p:nvGraphicFramePr>
            <p:xfrm>
              <a:off x="508000" y="2199640"/>
              <a:ext cx="6878320" cy="3627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39160">
                      <a:extLst>
                        <a:ext uri="{9D8B030D-6E8A-4147-A177-3AD203B41FA5}">
                          <a16:colId xmlns:a16="http://schemas.microsoft.com/office/drawing/2014/main" val="3608769543"/>
                        </a:ext>
                      </a:extLst>
                    </a:gridCol>
                    <a:gridCol w="3439160">
                      <a:extLst>
                        <a:ext uri="{9D8B030D-6E8A-4147-A177-3AD203B41FA5}">
                          <a16:colId xmlns:a16="http://schemas.microsoft.com/office/drawing/2014/main" val="8796392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Parameter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Value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073576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𝑟𝑜𝑑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0.189 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5756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𝑟𝑜𝑑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45.18 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oMath>
                            </m:oMathPara>
                          </a14:m>
                          <a:endParaRPr lang="en-US" sz="280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8921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𝐷𝑖𝑠𝑐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4.92 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oMath>
                            </m:oMathPara>
                          </a14:m>
                          <a:endParaRPr lang="en-US" sz="280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8901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sz="280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4.4 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𝑙𝑏𝑓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800" i="1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646154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n-US" sz="280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7.50 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𝑑𝑒𝑔</m:t>
                              </m:r>
                            </m:oMath>
                          </a14:m>
                          <a:r>
                            <a:rPr lang="en-US" sz="2800"/>
                            <a:t>*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77722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lang="en-US" sz="280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/>
                            <a:t>3.77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𝑝𝑠𝑖</m:t>
                              </m:r>
                            </m:oMath>
                          </a14:m>
                          <a:endParaRPr lang="en-US" sz="2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92686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2E22EE0-F556-E098-31E3-66B2D9AF57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2380175"/>
                  </p:ext>
                </p:extLst>
              </p:nvPr>
            </p:nvGraphicFramePr>
            <p:xfrm>
              <a:off x="508000" y="2199640"/>
              <a:ext cx="6878320" cy="3627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39160">
                      <a:extLst>
                        <a:ext uri="{9D8B030D-6E8A-4147-A177-3AD203B41FA5}">
                          <a16:colId xmlns:a16="http://schemas.microsoft.com/office/drawing/2014/main" val="3608769543"/>
                        </a:ext>
                      </a:extLst>
                    </a:gridCol>
                    <a:gridCol w="3439160">
                      <a:extLst>
                        <a:ext uri="{9D8B030D-6E8A-4147-A177-3AD203B41FA5}">
                          <a16:colId xmlns:a16="http://schemas.microsoft.com/office/drawing/2014/main" val="87963924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Parameter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Value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0735769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11765" r="-100000" b="-5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177" t="-111765" r="-177" b="-5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75600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11765" r="-100000" b="-4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177" t="-211765" r="-177" b="-4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892178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08140" r="-100000" b="-3302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177" t="-308140" r="-177" b="-3302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890121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412941" r="-100000" b="-2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177" t="-412941" r="-177" b="-23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461547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512941" r="-100000" b="-1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177" t="-512941" r="-177" b="-13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772276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612941" r="-100000" b="-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177" t="-612941" r="-177" b="-3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92686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18E86C-B79E-9D5D-AFB4-DCAB19CB84F6}"/>
                  </a:ext>
                </a:extLst>
              </p:cNvPr>
              <p:cNvSpPr txBox="1"/>
              <p:nvPr/>
            </p:nvSpPr>
            <p:spPr>
              <a:xfrm>
                <a:off x="7112000" y="1930400"/>
                <a:ext cx="4318000" cy="1010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𝑑𝑖𝑠𝑐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𝑟𝑜𝑑</m:t>
                              </m:r>
                            </m:sub>
                          </m:sSub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𝑟𝑜𝑑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b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18E86C-B79E-9D5D-AFB4-DCAB19CB8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1930400"/>
                <a:ext cx="4318000" cy="10102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F255AD-05DD-128F-4A16-A979C1C595B7}"/>
                  </a:ext>
                </a:extLst>
              </p:cNvPr>
              <p:cNvSpPr txBox="1"/>
              <p:nvPr/>
            </p:nvSpPr>
            <p:spPr>
              <a:xfrm>
                <a:off x="7579360" y="5303540"/>
                <a:ext cx="36576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=3.77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𝑝𝑠𝑖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F255AD-05DD-128F-4A16-A979C1C59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360" y="5303540"/>
                <a:ext cx="36576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A2C5D2-094D-09D7-D9CF-D7EE94B31883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408160" y="3178098"/>
            <a:ext cx="0" cy="212544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AD97281-DA84-0BC2-02E8-097C2E7EB5B5}"/>
              </a:ext>
            </a:extLst>
          </p:cNvPr>
          <p:cNvSpPr txBox="1"/>
          <p:nvPr/>
        </p:nvSpPr>
        <p:spPr>
          <a:xfrm>
            <a:off x="508000" y="6096000"/>
            <a:ext cx="709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*Degrees were converted to radians for this calculation</a:t>
            </a:r>
          </a:p>
        </p:txBody>
      </p:sp>
    </p:spTree>
    <p:extLst>
      <p:ext uri="{BB962C8B-B14F-4D97-AF65-F5344CB8AC3E}">
        <p14:creationId xmlns:p14="http://schemas.microsoft.com/office/powerpoint/2010/main" val="303657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2674B-803E-AA31-75AB-4B8260A49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365125"/>
            <a:ext cx="10703560" cy="1325563"/>
          </a:xfrm>
        </p:spPr>
        <p:txBody>
          <a:bodyPr>
            <a:normAutofit fontScale="90000"/>
          </a:bodyPr>
          <a:lstStyle/>
          <a:p>
            <a:r>
              <a:rPr lang="en-US"/>
              <a:t>The relative systematic uncertainty was found to be reasonable enough to proceed with multiple measurements.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DAF936-1059-F175-BAA6-4294835373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73120" y="4185920"/>
                <a:ext cx="5257800" cy="98869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18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𝑠𝑖</m:t>
                          </m:r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3.77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𝑠𝑖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100=4.99%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DAF936-1059-F175-BAA6-4294835373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73120" y="4185920"/>
                <a:ext cx="5257800" cy="98869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95E3F9-CB77-2BA7-DDA2-83EE35E79DD3}"/>
                  </a:ext>
                </a:extLst>
              </p:cNvPr>
              <p:cNvSpPr txBox="1"/>
              <p:nvPr/>
            </p:nvSpPr>
            <p:spPr>
              <a:xfrm>
                <a:off x="1831340" y="2099034"/>
                <a:ext cx="8341360" cy="842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𝑠𝑦𝑠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100=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𝑠𝑦𝑠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95E3F9-CB77-2BA7-DDA2-83EE35E79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340" y="2099034"/>
                <a:ext cx="8341360" cy="8422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3A0954-4DF4-D946-8D31-297B5B3D056C}"/>
              </a:ext>
            </a:extLst>
          </p:cNvPr>
          <p:cNvCxnSpPr>
            <a:cxnSpLocks/>
          </p:cNvCxnSpPr>
          <p:nvPr/>
        </p:nvCxnSpPr>
        <p:spPr>
          <a:xfrm>
            <a:off x="6096000" y="2936240"/>
            <a:ext cx="0" cy="124968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514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D556A-0AF4-1274-7F95-EE0182E1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04258"/>
            <a:ext cx="10972800" cy="1325563"/>
          </a:xfrm>
        </p:spPr>
        <p:txBody>
          <a:bodyPr>
            <a:normAutofit fontScale="90000"/>
          </a:bodyPr>
          <a:lstStyle/>
          <a:p>
            <a:r>
              <a:rPr lang="en-US"/>
              <a:t>After 8 trials, multiple different deflection angles (deg) were measured to find the random uncertainty.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F3AEB594-7802-0B61-2CBC-3ACD26EC806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29748939"/>
                  </p:ext>
                </p:extLst>
              </p:nvPr>
            </p:nvGraphicFramePr>
            <p:xfrm>
              <a:off x="203200" y="1690688"/>
              <a:ext cx="5323840" cy="4572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37810">
                      <a:extLst>
                        <a:ext uri="{9D8B030D-6E8A-4147-A177-3AD203B41FA5}">
                          <a16:colId xmlns:a16="http://schemas.microsoft.com/office/drawing/2014/main" val="82963029"/>
                        </a:ext>
                      </a:extLst>
                    </a:gridCol>
                    <a:gridCol w="1251459">
                      <a:extLst>
                        <a:ext uri="{9D8B030D-6E8A-4147-A177-3AD203B41FA5}">
                          <a16:colId xmlns:a16="http://schemas.microsoft.com/office/drawing/2014/main" val="1923036060"/>
                        </a:ext>
                      </a:extLst>
                    </a:gridCol>
                    <a:gridCol w="1214811">
                      <a:extLst>
                        <a:ext uri="{9D8B030D-6E8A-4147-A177-3AD203B41FA5}">
                          <a16:colId xmlns:a16="http://schemas.microsoft.com/office/drawing/2014/main" val="3336143573"/>
                        </a:ext>
                      </a:extLst>
                    </a:gridCol>
                    <a:gridCol w="1319760">
                      <a:extLst>
                        <a:ext uri="{9D8B030D-6E8A-4147-A177-3AD203B41FA5}">
                          <a16:colId xmlns:a16="http://schemas.microsoft.com/office/drawing/2014/main" val="4019091533"/>
                        </a:ext>
                      </a:extLst>
                    </a:gridCol>
                  </a:tblGrid>
                  <a:tr h="51587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Observation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80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oMath>
                          </a14:m>
                          <a:r>
                            <a:rPr lang="en-US"/>
                            <a:t> (Radians)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80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oMath>
                          </a14:m>
                          <a:r>
                            <a:rPr lang="en-US"/>
                            <a:t> (Degrees)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Shear Modulus (psi)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69683178"/>
                      </a:ext>
                    </a:extLst>
                  </a:tr>
                  <a:tr h="2063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0.148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8.50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3.32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1051373"/>
                      </a:ext>
                    </a:extLst>
                  </a:tr>
                  <a:tr h="2063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0.131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7.50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3.77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40618563"/>
                      </a:ext>
                    </a:extLst>
                  </a:tr>
                  <a:tr h="2063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0.133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7.60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3.72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77021034"/>
                      </a:ext>
                    </a:extLst>
                  </a:tr>
                  <a:tr h="2063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0.134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7.70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3.67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02995066"/>
                      </a:ext>
                    </a:extLst>
                  </a:tr>
                  <a:tr h="2063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8.00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3.53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27356612"/>
                      </a:ext>
                    </a:extLst>
                  </a:tr>
                  <a:tr h="2063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0.145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8.30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3.40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346944656"/>
                      </a:ext>
                    </a:extLst>
                  </a:tr>
                  <a:tr h="2063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0.131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7.50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3.77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49116316"/>
                      </a:ext>
                    </a:extLst>
                  </a:tr>
                  <a:tr h="2063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0.133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7.60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3.72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74297861"/>
                      </a:ext>
                    </a:extLst>
                  </a:tr>
                  <a:tr h="2063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Average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0.137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7.93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3.61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748517095"/>
                      </a:ext>
                    </a:extLst>
                  </a:tr>
                  <a:tr h="2063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Std Dev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0.006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0.37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0.18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6804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F3AEB594-7802-0B61-2CBC-3ACD26EC806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29748939"/>
                  </p:ext>
                </p:extLst>
              </p:nvPr>
            </p:nvGraphicFramePr>
            <p:xfrm>
              <a:off x="203200" y="1690688"/>
              <a:ext cx="5323840" cy="4633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37810">
                      <a:extLst>
                        <a:ext uri="{9D8B030D-6E8A-4147-A177-3AD203B41FA5}">
                          <a16:colId xmlns:a16="http://schemas.microsoft.com/office/drawing/2014/main" val="82963029"/>
                        </a:ext>
                      </a:extLst>
                    </a:gridCol>
                    <a:gridCol w="1251459">
                      <a:extLst>
                        <a:ext uri="{9D8B030D-6E8A-4147-A177-3AD203B41FA5}">
                          <a16:colId xmlns:a16="http://schemas.microsoft.com/office/drawing/2014/main" val="1923036060"/>
                        </a:ext>
                      </a:extLst>
                    </a:gridCol>
                    <a:gridCol w="1214811">
                      <a:extLst>
                        <a:ext uri="{9D8B030D-6E8A-4147-A177-3AD203B41FA5}">
                          <a16:colId xmlns:a16="http://schemas.microsoft.com/office/drawing/2014/main" val="3336143573"/>
                        </a:ext>
                      </a:extLst>
                    </a:gridCol>
                    <a:gridCol w="1319760">
                      <a:extLst>
                        <a:ext uri="{9D8B030D-6E8A-4147-A177-3AD203B41FA5}">
                          <a16:colId xmlns:a16="http://schemas.microsoft.com/office/drawing/2014/main" val="401909153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Observation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2816" t="-2667" r="-202913" b="-4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0653" t="-2667" r="-110050" b="-4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Shear Modulus (psi)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69683178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0.148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8.50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3226" t="-252459" r="-922" b="-9278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051373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0.131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7.50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3226" t="-352459" r="-922" b="-8278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618563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0.133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7.60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3226" t="-452459" r="-922" b="-7278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7021034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0.134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7.70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3226" t="-543548" r="-922" b="-6161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2995066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8.00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3226" t="-654098" r="-922" b="-5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356612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0.145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8.30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3226" t="-754098" r="-922" b="-4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6944656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0.131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7.50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3226" t="-854098" r="-922" b="-3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9116316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0.133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7.60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3226" t="-954098" r="-922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4297861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Average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0.137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7.93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03226" t="-1054098" r="-922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8517095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Std Dev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0.006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0.37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3226" t="-1154098" r="-922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68041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1AAE8CD-A9B6-E3AA-D60F-2BD9F03DBB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9715697"/>
              </p:ext>
            </p:extLst>
          </p:nvPr>
        </p:nvGraphicFramePr>
        <p:xfrm>
          <a:off x="5618479" y="1690688"/>
          <a:ext cx="6195883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10933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07BFF-6A5F-0275-DF9E-D531D2871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3976A-4A32-F8E0-A191-B710BDB5E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0918"/>
            <a:ext cx="10972800" cy="1325563"/>
          </a:xfrm>
        </p:spPr>
        <p:txBody>
          <a:bodyPr>
            <a:normAutofit/>
          </a:bodyPr>
          <a:lstStyle/>
          <a:p>
            <a:r>
              <a:rPr lang="en-US" dirty="0"/>
              <a:t>After collecting the results from multiple trials, the random uncertainty was calculated.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DD7C0F-5797-697B-FB2C-5E470AE523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67100" y="1772135"/>
                <a:ext cx="5257800" cy="142686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𝑟𝑎𝑛𝑑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=0.15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𝑝𝑠𝑖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DD7C0F-5797-697B-FB2C-5E470AE523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67100" y="1772135"/>
                <a:ext cx="5257800" cy="142686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B64FED-2D3C-EBDF-0077-E16B79E619EB}"/>
                  </a:ext>
                </a:extLst>
              </p:cNvPr>
              <p:cNvSpPr txBox="1"/>
              <p:nvPr/>
            </p:nvSpPr>
            <p:spPr>
              <a:xfrm>
                <a:off x="329569" y="5198977"/>
                <a:ext cx="3918435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critical t-value</a:t>
                </a:r>
                <a:endParaRPr lang="en-US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Standard Deviation of G</a:t>
                </a:r>
                <a:endParaRPr lang="en-US" sz="16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number of trials</a:t>
                </a:r>
                <a:endParaRPr lang="en-US" sz="16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B64FED-2D3C-EBDF-0077-E16B79E61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69" y="5198977"/>
                <a:ext cx="3918435" cy="1508105"/>
              </a:xfrm>
              <a:prstGeom prst="rect">
                <a:avLst/>
              </a:prstGeom>
              <a:blipFill>
                <a:blip r:embed="rId4"/>
                <a:stretch>
                  <a:fillRect l="-311" t="-4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FC4A96-76AF-D328-F3E6-D22D74C0C11B}"/>
                  </a:ext>
                </a:extLst>
              </p:cNvPr>
              <p:cNvSpPr txBox="1"/>
              <p:nvPr/>
            </p:nvSpPr>
            <p:spPr>
              <a:xfrm>
                <a:off x="1934633" y="3680255"/>
                <a:ext cx="8322733" cy="1037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𝑟𝑎𝑛𝑑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2.36462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800" dirty="0"/>
                            <m:t>0.18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x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𝑝𝑠𝑖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=0.15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𝑝𝑠𝑖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FC4A96-76AF-D328-F3E6-D22D74C0C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633" y="3680255"/>
                <a:ext cx="8322733" cy="1037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D1B5DFC-6D51-D8F8-A03C-17CDECB27BBC}"/>
              </a:ext>
            </a:extLst>
          </p:cNvPr>
          <p:cNvCxnSpPr/>
          <p:nvPr/>
        </p:nvCxnSpPr>
        <p:spPr>
          <a:xfrm>
            <a:off x="5748867" y="2768600"/>
            <a:ext cx="0" cy="91165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301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1E995-F51B-FCD8-1401-8786DC488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854" y="80009"/>
            <a:ext cx="12319001" cy="1325563"/>
          </a:xfrm>
        </p:spPr>
        <p:txBody>
          <a:bodyPr>
            <a:normAutofit/>
          </a:bodyPr>
          <a:lstStyle/>
          <a:p>
            <a:r>
              <a:rPr lang="en-US" sz="3600" dirty="0"/>
              <a:t>The </a:t>
            </a:r>
            <a:r>
              <a:rPr lang="en-US" sz="3600" b="1" dirty="0"/>
              <a:t>deflection angle </a:t>
            </a:r>
            <a:r>
              <a:rPr lang="en-US" sz="3600" dirty="0"/>
              <a:t>and </a:t>
            </a:r>
            <a:r>
              <a:rPr lang="en-US" sz="3600" b="1" dirty="0"/>
              <a:t>random </a:t>
            </a:r>
            <a:r>
              <a:rPr lang="en-US" sz="3600" dirty="0"/>
              <a:t>were the </a:t>
            </a:r>
            <a:r>
              <a:rPr lang="en-US" sz="3600" b="1" dirty="0"/>
              <a:t>greatest</a:t>
            </a:r>
            <a:r>
              <a:rPr lang="en-US" sz="3600" dirty="0"/>
              <a:t> sources of </a:t>
            </a:r>
            <a:r>
              <a:rPr lang="en-US" sz="3600" b="1" dirty="0"/>
              <a:t>uncertainty</a:t>
            </a:r>
            <a:r>
              <a:rPr lang="en-US" sz="3600" dirty="0"/>
              <a:t>.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61B4808-8839-4613-DB44-EACC340F04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1174670"/>
                  </p:ext>
                </p:extLst>
              </p:nvPr>
            </p:nvGraphicFramePr>
            <p:xfrm>
              <a:off x="772160" y="1300480"/>
              <a:ext cx="10476230" cy="512629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630221">
                      <a:extLst>
                        <a:ext uri="{9D8B030D-6E8A-4147-A177-3AD203B41FA5}">
                          <a16:colId xmlns:a16="http://schemas.microsoft.com/office/drawing/2014/main" val="2105218220"/>
                        </a:ext>
                      </a:extLst>
                    </a:gridCol>
                    <a:gridCol w="1805552">
                      <a:extLst>
                        <a:ext uri="{9D8B030D-6E8A-4147-A177-3AD203B41FA5}">
                          <a16:colId xmlns:a16="http://schemas.microsoft.com/office/drawing/2014/main" val="2063290955"/>
                        </a:ext>
                      </a:extLst>
                    </a:gridCol>
                    <a:gridCol w="1412417">
                      <a:extLst>
                        <a:ext uri="{9D8B030D-6E8A-4147-A177-3AD203B41FA5}">
                          <a16:colId xmlns:a16="http://schemas.microsoft.com/office/drawing/2014/main" val="4165689017"/>
                        </a:ext>
                      </a:extLst>
                    </a:gridCol>
                    <a:gridCol w="1634284">
                      <a:extLst>
                        <a:ext uri="{9D8B030D-6E8A-4147-A177-3AD203B41FA5}">
                          <a16:colId xmlns:a16="http://schemas.microsoft.com/office/drawing/2014/main" val="1122913009"/>
                        </a:ext>
                      </a:extLst>
                    </a:gridCol>
                    <a:gridCol w="1996878">
                      <a:extLst>
                        <a:ext uri="{9D8B030D-6E8A-4147-A177-3AD203B41FA5}">
                          <a16:colId xmlns:a16="http://schemas.microsoft.com/office/drawing/2014/main" val="2360468138"/>
                        </a:ext>
                      </a:extLst>
                    </a:gridCol>
                    <a:gridCol w="1996878">
                      <a:extLst>
                        <a:ext uri="{9D8B030D-6E8A-4147-A177-3AD203B41FA5}">
                          <a16:colId xmlns:a16="http://schemas.microsoft.com/office/drawing/2014/main" val="3314623722"/>
                        </a:ext>
                      </a:extLst>
                    </a:gridCol>
                  </a:tblGrid>
                  <a:tr h="4194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Parameter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Representative Value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Uncertainty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Sensor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Sensitivity 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𝑝𝑠𝑖</m:t>
                              </m:r>
                            </m:oMath>
                          </a14:m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19246934"/>
                      </a:ext>
                    </a:extLst>
                  </a:tr>
                  <a:tr h="5508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7.9 (deg)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Tick Marks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26</m:t>
                              </m:r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.4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𝑝𝑠𝑖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𝑟𝑎𝑑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16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39094469"/>
                      </a:ext>
                    </a:extLst>
                  </a:tr>
                  <a:tr h="55080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𝑟𝑎𝑛𝑑𝑜𝑚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06826883"/>
                      </a:ext>
                    </a:extLst>
                  </a:tr>
                  <a:tr h="6506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𝑟𝑜𝑑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0.19 (in)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07</m:t>
                                </m:r>
                              </m:oMath>
                            </m:oMathPara>
                          </a14:m>
                          <a:endPara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Calipers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76.5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f>
                                  <m:f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𝑝𝑠𝑖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69107874"/>
                      </a:ext>
                    </a:extLst>
                  </a:tr>
                  <a:tr h="7033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sz="2000" b="0" i="1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4.4 (lbf)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04</m:t>
                                </m:r>
                              </m:oMath>
                            </m:oMathPara>
                          </a14:m>
                          <a:endPara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Scale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0.82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f>
                                  <m:f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𝑝𝑠𝑖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𝑙𝑏𝑓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0.00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73804071"/>
                      </a:ext>
                    </a:extLst>
                  </a:tr>
                  <a:tr h="6506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𝑟𝑜𝑑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45.18 (in)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Ruler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08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f>
                                  <m:f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𝑝𝑠𝑖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0.00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0562797"/>
                      </a:ext>
                    </a:extLst>
                  </a:tr>
                  <a:tr h="65068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𝑑𝑖𝑠𝑐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4.915 (in)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Calipers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73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f>
                                  <m:f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𝑝𝑠𝑖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.00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  <m:sSup>
                                  <m:sSupPr>
                                    <m:ctrlPr>
                                      <a:rPr lang="en-US" sz="20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9376165"/>
                      </a:ext>
                    </a:extLst>
                  </a:tr>
                  <a:tr h="69112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3.61x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000" b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(psi)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0.23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x</m:t>
                                    </m:r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95029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61B4808-8839-4613-DB44-EACC340F04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1174670"/>
                  </p:ext>
                </p:extLst>
              </p:nvPr>
            </p:nvGraphicFramePr>
            <p:xfrm>
              <a:off x="772160" y="1300480"/>
              <a:ext cx="10476230" cy="512629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630221">
                      <a:extLst>
                        <a:ext uri="{9D8B030D-6E8A-4147-A177-3AD203B41FA5}">
                          <a16:colId xmlns:a16="http://schemas.microsoft.com/office/drawing/2014/main" val="2105218220"/>
                        </a:ext>
                      </a:extLst>
                    </a:gridCol>
                    <a:gridCol w="1805552">
                      <a:extLst>
                        <a:ext uri="{9D8B030D-6E8A-4147-A177-3AD203B41FA5}">
                          <a16:colId xmlns:a16="http://schemas.microsoft.com/office/drawing/2014/main" val="2063290955"/>
                        </a:ext>
                      </a:extLst>
                    </a:gridCol>
                    <a:gridCol w="1412417">
                      <a:extLst>
                        <a:ext uri="{9D8B030D-6E8A-4147-A177-3AD203B41FA5}">
                          <a16:colId xmlns:a16="http://schemas.microsoft.com/office/drawing/2014/main" val="4165689017"/>
                        </a:ext>
                      </a:extLst>
                    </a:gridCol>
                    <a:gridCol w="1634284">
                      <a:extLst>
                        <a:ext uri="{9D8B030D-6E8A-4147-A177-3AD203B41FA5}">
                          <a16:colId xmlns:a16="http://schemas.microsoft.com/office/drawing/2014/main" val="1122913009"/>
                        </a:ext>
                      </a:extLst>
                    </a:gridCol>
                    <a:gridCol w="1996878">
                      <a:extLst>
                        <a:ext uri="{9D8B030D-6E8A-4147-A177-3AD203B41FA5}">
                          <a16:colId xmlns:a16="http://schemas.microsoft.com/office/drawing/2014/main" val="2360468138"/>
                        </a:ext>
                      </a:extLst>
                    </a:gridCol>
                    <a:gridCol w="1996878">
                      <a:extLst>
                        <a:ext uri="{9D8B030D-6E8A-4147-A177-3AD203B41FA5}">
                          <a16:colId xmlns:a16="http://schemas.microsoft.com/office/drawing/2014/main" val="331462372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Parameter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Representative Value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Uncertainty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Sensor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Sensitivity 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4695" t="-5714" r="-1220" b="-7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9246934"/>
                      </a:ext>
                    </a:extLst>
                  </a:tr>
                  <a:tr h="550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" t="-121978" r="-543284" b="-7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7.9 (deg)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3534" t="-121978" r="-400000" b="-7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Tick Marks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24695" t="-121978" r="-101220" b="-7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4695" t="-121978" r="-1220" b="-7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9094469"/>
                      </a:ext>
                    </a:extLst>
                  </a:tr>
                  <a:tr h="550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" t="-224444" r="-543284" b="-6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4695" t="-224444" r="-1220" b="-6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826883"/>
                      </a:ext>
                    </a:extLst>
                  </a:tr>
                  <a:tr h="6600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" t="-270370" r="-543284" b="-4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0.19 (in)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3534" t="-270370" r="-400000" b="-4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Calipers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24695" t="-270370" r="-101220" b="-4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4695" t="-270370" r="-1220" b="-4185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9107874"/>
                      </a:ext>
                    </a:extLst>
                  </a:tr>
                  <a:tr h="7134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" t="-338983" r="-543284" b="-2830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4.4 (lbf)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3534" t="-338983" r="-400000" b="-2830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Scale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24695" t="-338983" r="-101220" b="-2830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4695" t="-338983" r="-1220" b="-2830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3804071"/>
                      </a:ext>
                    </a:extLst>
                  </a:tr>
                  <a:tr h="6600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" t="-479630" r="-543284" b="-20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45.18 (in)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3534" t="-479630" r="-400000" b="-20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Ruler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24695" t="-479630" r="-101220" b="-20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4695" t="-479630" r="-1220" b="-2092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562797"/>
                      </a:ext>
                    </a:extLst>
                  </a:tr>
                  <a:tr h="6600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" t="-579630" r="-543284" b="-10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4.915 (in)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3534" t="-579630" r="-400000" b="-10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Calipers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24695" t="-579630" r="-101220" b="-10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4695" t="-579630" r="-1220" b="-1092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9376165"/>
                      </a:ext>
                    </a:extLst>
                  </a:tr>
                  <a:tr h="6911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" t="-643860" r="-543284" b="-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878" t="-643860" r="-391892" b="-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4695" t="-643860" r="-1220" b="-35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50296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0BA9628-350A-8E00-0DCF-76BE745B8A5A}"/>
              </a:ext>
            </a:extLst>
          </p:cNvPr>
          <p:cNvSpPr txBox="1"/>
          <p:nvPr/>
        </p:nvSpPr>
        <p:spPr>
          <a:xfrm>
            <a:off x="9157063" y="562138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78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F8DDD-99F8-C91C-E43C-357FAB811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" y="354868"/>
            <a:ext cx="10957560" cy="1325563"/>
          </a:xfrm>
        </p:spPr>
        <p:txBody>
          <a:bodyPr>
            <a:normAutofit fontScale="90000"/>
          </a:bodyPr>
          <a:lstStyle/>
          <a:p>
            <a:r>
              <a:rPr lang="en-US"/>
              <a:t>After taking multiple trials and accounting for the random uncertainty, the total relative uncertainty was calculated and divided by the shear modulus.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1B1AAFE-0D0E-BE26-9809-E018A73188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73120" y="4185920"/>
                <a:ext cx="5257800" cy="98869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23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𝑠𝑖</m:t>
                          </m:r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3.61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𝑠𝑖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100=6.3%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1B1AAFE-0D0E-BE26-9809-E018A73188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73120" y="4185920"/>
                <a:ext cx="5257800" cy="98869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630031-A6C6-7A09-0F90-4E0EFED76697}"/>
                  </a:ext>
                </a:extLst>
              </p:cNvPr>
              <p:cNvSpPr txBox="1"/>
              <p:nvPr/>
            </p:nvSpPr>
            <p:spPr>
              <a:xfrm>
                <a:off x="1831340" y="2099034"/>
                <a:ext cx="8341360" cy="8304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𝑇𝑜𝑡𝑎𝑙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100=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630031-A6C6-7A09-0F90-4E0EFED76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340" y="2099034"/>
                <a:ext cx="8341360" cy="8304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7D6AFA7-B510-673D-0E63-203D9CA419FE}"/>
              </a:ext>
            </a:extLst>
          </p:cNvPr>
          <p:cNvCxnSpPr>
            <a:cxnSpLocks/>
          </p:cNvCxnSpPr>
          <p:nvPr/>
        </p:nvCxnSpPr>
        <p:spPr>
          <a:xfrm>
            <a:off x="6096000" y="2936240"/>
            <a:ext cx="0" cy="124968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752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23977E-93CC-C77B-4912-C77D19E1CAF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36880" y="379516"/>
                <a:ext cx="11526520" cy="1259839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>
                    <a:latin typeface="Aptos Display (Headings)"/>
                    <a:ea typeface="Cambria Math" panose="02040503050406030204" pitchFamily="18" charset="0"/>
                  </a:rPr>
                  <a:t>We concluded with the total relative uncertainty deemed appropriate, that the shear modulus of the rod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3.61±0.23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psi</m:t>
                    </m:r>
                  </m:oMath>
                </a14:m>
                <a:r>
                  <a:rPr lang="en-US" dirty="0">
                    <a:latin typeface="Aptos Display (Headings)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23977E-93CC-C77B-4912-C77D19E1CA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36880" y="379516"/>
                <a:ext cx="11526520" cy="1259839"/>
              </a:xfrm>
              <a:blipFill>
                <a:blip r:embed="rId3"/>
                <a:stretch>
                  <a:fillRect l="-1904" t="-31884" r="-687" b="-40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B59329-2C70-3D01-A244-54DCA3C8F205}"/>
                  </a:ext>
                </a:extLst>
              </p:cNvPr>
              <p:cNvSpPr txBox="1"/>
              <p:nvPr/>
            </p:nvSpPr>
            <p:spPr>
              <a:xfrm>
                <a:off x="596053" y="2401777"/>
                <a:ext cx="5974079" cy="1035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𝑒𝑥𝑝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100=%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𝑑𝑖𝑓𝑓𝑒𝑟𝑒𝑛𝑐𝑒</m:t>
                      </m:r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B59329-2C70-3D01-A244-54DCA3C8F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053" y="2401777"/>
                <a:ext cx="5974079" cy="10354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F9D1BA-D3EF-EF11-41C4-8B263D70E6AD}"/>
                  </a:ext>
                </a:extLst>
              </p:cNvPr>
              <p:cNvSpPr txBox="1"/>
              <p:nvPr/>
            </p:nvSpPr>
            <p:spPr>
              <a:xfrm>
                <a:off x="-111722" y="4082431"/>
                <a:ext cx="7260975" cy="956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3.6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−3.6 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3.6 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100=+0.27%</m:t>
                      </m:r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F9D1BA-D3EF-EF11-41C4-8B263D70E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1722" y="4082431"/>
                <a:ext cx="7260975" cy="956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9CA28B-C438-DEB0-7C06-D5B24737B36A}"/>
              </a:ext>
            </a:extLst>
          </p:cNvPr>
          <p:cNvCxnSpPr>
            <a:cxnSpLocks/>
          </p:cNvCxnSpPr>
          <p:nvPr/>
        </p:nvCxnSpPr>
        <p:spPr>
          <a:xfrm>
            <a:off x="3095413" y="3437253"/>
            <a:ext cx="0" cy="56663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D38BDB4-E8A8-551C-519D-1F03D28D7431}"/>
              </a:ext>
            </a:extLst>
          </p:cNvPr>
          <p:cNvSpPr txBox="1"/>
          <p:nvPr/>
        </p:nvSpPr>
        <p:spPr>
          <a:xfrm>
            <a:off x="304800" y="6319520"/>
            <a:ext cx="411480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5A9594-6375-0FCD-5E3C-669DEE1A1347}"/>
              </a:ext>
            </a:extLst>
          </p:cNvPr>
          <p:cNvSpPr txBox="1"/>
          <p:nvPr/>
        </p:nvSpPr>
        <p:spPr>
          <a:xfrm>
            <a:off x="256540" y="5439854"/>
            <a:ext cx="1188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We recommend using a more precise way to measure the deflection angle to lower uncertainty.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91689C-B3F4-5182-ADB4-9F3CBD1DC0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0858" y="1718732"/>
            <a:ext cx="2991688" cy="314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29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514CE-27C2-87FC-A9DA-29B26447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421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400"/>
              <a:t>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13643-75B2-B237-B8CC-42456A2E5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80551"/>
            <a:ext cx="10515600" cy="3096412"/>
          </a:xfrm>
        </p:spPr>
        <p:txBody>
          <a:bodyPr/>
          <a:lstStyle/>
          <a:p>
            <a:pPr marL="0" indent="0" algn="ctr">
              <a:buNone/>
            </a:pPr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026631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99972-DCF7-EE8B-517E-ED62F9DE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78740-9379-3331-7F9A-0336B1FC5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041" y="-1079661"/>
            <a:ext cx="9144000" cy="2387600"/>
          </a:xfrm>
        </p:spPr>
        <p:txBody>
          <a:bodyPr/>
          <a:lstStyle/>
          <a:p>
            <a:r>
              <a:rPr lang="en-US"/>
              <a:t>Q/A Slides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FC3CC1-DDAD-FA5F-B373-A0034ED97892}"/>
              </a:ext>
            </a:extLst>
          </p:cNvPr>
          <p:cNvSpPr/>
          <p:nvPr/>
        </p:nvSpPr>
        <p:spPr>
          <a:xfrm>
            <a:off x="581608" y="1026572"/>
            <a:ext cx="2164702" cy="13249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First Shakedown Attempt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19F8B9-CD8D-2F68-12C1-42F85AC6BBAC}"/>
              </a:ext>
            </a:extLst>
          </p:cNvPr>
          <p:cNvSpPr/>
          <p:nvPr/>
        </p:nvSpPr>
        <p:spPr>
          <a:xfrm>
            <a:off x="3075370" y="2003381"/>
            <a:ext cx="2164702" cy="13249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Uncertainty Tree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6BDA0E-B2C0-1D7F-C8A5-4E05FC074F81}"/>
              </a:ext>
            </a:extLst>
          </p:cNvPr>
          <p:cNvSpPr/>
          <p:nvPr/>
        </p:nvSpPr>
        <p:spPr>
          <a:xfrm>
            <a:off x="9165772" y="1026572"/>
            <a:ext cx="2164702" cy="13249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Calibration of Weight Scale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BAD91E-60F6-F1C4-AF29-AC004D4B83D8}"/>
              </a:ext>
            </a:extLst>
          </p:cNvPr>
          <p:cNvSpPr/>
          <p:nvPr/>
        </p:nvSpPr>
        <p:spPr>
          <a:xfrm>
            <a:off x="910668" y="4023770"/>
            <a:ext cx="2164702" cy="13249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Apparatus Breakdown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32780A-5908-246B-27A1-0BF870725EF1}"/>
              </a:ext>
            </a:extLst>
          </p:cNvPr>
          <p:cNvSpPr/>
          <p:nvPr/>
        </p:nvSpPr>
        <p:spPr>
          <a:xfrm>
            <a:off x="8285273" y="4020451"/>
            <a:ext cx="2164702" cy="13249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Sensitivity Coefficients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A2848-232F-D034-AFA3-B57A97F522F2}"/>
              </a:ext>
            </a:extLst>
          </p:cNvPr>
          <p:cNvSpPr/>
          <p:nvPr/>
        </p:nvSpPr>
        <p:spPr>
          <a:xfrm>
            <a:off x="4755191" y="4020452"/>
            <a:ext cx="2164702" cy="13249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 Aluminum Alloy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4A457B-0C90-429B-6099-902578CBF223}"/>
              </a:ext>
            </a:extLst>
          </p:cNvPr>
          <p:cNvSpPr/>
          <p:nvPr/>
        </p:nvSpPr>
        <p:spPr>
          <a:xfrm>
            <a:off x="6120571" y="2003381"/>
            <a:ext cx="2164702" cy="13249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DRE Derivation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913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B7EBCFC-E551-EDC6-7FFB-FD06B57E84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6046244"/>
                  </p:ext>
                </p:extLst>
              </p:nvPr>
            </p:nvGraphicFramePr>
            <p:xfrm>
              <a:off x="838200" y="2198451"/>
              <a:ext cx="10416702" cy="441847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36117">
                      <a:extLst>
                        <a:ext uri="{9D8B030D-6E8A-4147-A177-3AD203B41FA5}">
                          <a16:colId xmlns:a16="http://schemas.microsoft.com/office/drawing/2014/main" val="1074152578"/>
                        </a:ext>
                      </a:extLst>
                    </a:gridCol>
                    <a:gridCol w="1736117">
                      <a:extLst>
                        <a:ext uri="{9D8B030D-6E8A-4147-A177-3AD203B41FA5}">
                          <a16:colId xmlns:a16="http://schemas.microsoft.com/office/drawing/2014/main" val="409061860"/>
                        </a:ext>
                      </a:extLst>
                    </a:gridCol>
                    <a:gridCol w="1833772">
                      <a:extLst>
                        <a:ext uri="{9D8B030D-6E8A-4147-A177-3AD203B41FA5}">
                          <a16:colId xmlns:a16="http://schemas.microsoft.com/office/drawing/2014/main" val="5654800"/>
                        </a:ext>
                      </a:extLst>
                    </a:gridCol>
                    <a:gridCol w="1638461">
                      <a:extLst>
                        <a:ext uri="{9D8B030D-6E8A-4147-A177-3AD203B41FA5}">
                          <a16:colId xmlns:a16="http://schemas.microsoft.com/office/drawing/2014/main" val="1948685968"/>
                        </a:ext>
                      </a:extLst>
                    </a:gridCol>
                    <a:gridCol w="1649312">
                      <a:extLst>
                        <a:ext uri="{9D8B030D-6E8A-4147-A177-3AD203B41FA5}">
                          <a16:colId xmlns:a16="http://schemas.microsoft.com/office/drawing/2014/main" val="3806038924"/>
                        </a:ext>
                      </a:extLst>
                    </a:gridCol>
                    <a:gridCol w="1822923">
                      <a:extLst>
                        <a:ext uri="{9D8B030D-6E8A-4147-A177-3AD203B41FA5}">
                          <a16:colId xmlns:a16="http://schemas.microsoft.com/office/drawing/2014/main" val="808905702"/>
                        </a:ext>
                      </a:extLst>
                    </a:gridCol>
                  </a:tblGrid>
                  <a:tr h="85776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/>
                            <a:t>Parameter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Typical Value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/>
                            <a:t>Uncertainty</a:t>
                          </a:r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Units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/>
                            <a:t>W</a:t>
                          </a:r>
                          <a:r>
                            <a:rPr lang="en-US" sz="1100"/>
                            <a:t>X</a:t>
                          </a:r>
                          <a:endParaRPr lang="en-US" sz="180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/>
                            <a:t>W</a:t>
                          </a:r>
                          <a:r>
                            <a:rPr lang="en-US" sz="1100"/>
                            <a:t>G</a:t>
                          </a:r>
                          <a:endParaRPr lang="en-US" sz="1800"/>
                        </a:p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31493958"/>
                      </a:ext>
                    </a:extLst>
                  </a:tr>
                  <a:tr h="49696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800" b="0" smtClean="0">
                                        <a:latin typeface="Cambria Math" panose="02040503050406030204" pitchFamily="18" charset="0"/>
                                      </a:rPr>
                                      <m:t>𝑟𝑜𝑑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0" i="1" baseline="-2500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0.239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1800" b="0" smtClean="0">
                                    <a:latin typeface="Cambria Math" panose="02040503050406030204" pitchFamily="18" charset="0"/>
                                  </a:rPr>
                                  <m:t>0.031</m:t>
                                </m:r>
                                <m: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80.94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𝑝𝑠𝑖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3.58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561939512"/>
                      </a:ext>
                    </a:extLst>
                  </a:tr>
                  <a:tr h="49696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1800" b="0" smtClean="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27.74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𝑝𝑠𝑖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𝑟𝑎𝑑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0.34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999340"/>
                      </a:ext>
                    </a:extLst>
                  </a:tr>
                  <a:tr h="496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80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latin typeface="Cambria Math" panose="02040503050406030204" pitchFamily="18" charset="0"/>
                                      </a:rPr>
                                      <m:t>𝑟𝑜𝑑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45.18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1800" b="0" smtClean="0">
                                    <a:latin typeface="Cambria Math" panose="02040503050406030204" pitchFamily="18" charset="0"/>
                                  </a:rPr>
                                  <m:t>0.031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0.084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𝑝𝑠𝑖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0.004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3621651"/>
                      </a:ext>
                    </a:extLst>
                  </a:tr>
                  <a:tr h="496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4.4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1800" b="0" smtClean="0">
                                    <a:latin typeface="Cambria Math" panose="02040503050406030204" pitchFamily="18" charset="0"/>
                                  </a:rPr>
                                  <m:t>0.003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lbf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0.86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𝑝𝑠𝑖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𝑙𝑏𝑓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0.004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294022"/>
                      </a:ext>
                    </a:extLst>
                  </a:tr>
                  <a:tr h="496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800" b="0" smtClean="0">
                                        <a:latin typeface="Cambria Math" panose="02040503050406030204" pitchFamily="18" charset="0"/>
                                      </a:rPr>
                                      <m:t>𝑑𝑖𝑠𝑐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5.063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1800" b="0" smtClean="0">
                                    <a:latin typeface="Cambria Math" panose="02040503050406030204" pitchFamily="18" charset="0"/>
                                  </a:rPr>
                                  <m:t>0.031</m:t>
                                </m:r>
                                <m: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in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0.75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𝑝𝑠𝑖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0.003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75011822"/>
                      </a:ext>
                    </a:extLst>
                  </a:tr>
                  <a:tr h="4969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G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/>
                            <a:t>3.96x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800" b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            psi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-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smtClean="0">
                                        <a:latin typeface="Cambria Math" panose="02040503050406030204" pitchFamily="18" charset="0"/>
                                      </a:rPr>
                                      <m:t>2.65</m:t>
                                    </m:r>
                                    <m:r>
                                      <a:rPr lang="en-US" sz="18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633346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B7EBCFC-E551-EDC6-7FFB-FD06B57E84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6046244"/>
                  </p:ext>
                </p:extLst>
              </p:nvPr>
            </p:nvGraphicFramePr>
            <p:xfrm>
              <a:off x="838200" y="2198451"/>
              <a:ext cx="10416702" cy="441847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36117">
                      <a:extLst>
                        <a:ext uri="{9D8B030D-6E8A-4147-A177-3AD203B41FA5}">
                          <a16:colId xmlns:a16="http://schemas.microsoft.com/office/drawing/2014/main" val="1074152578"/>
                        </a:ext>
                      </a:extLst>
                    </a:gridCol>
                    <a:gridCol w="1736117">
                      <a:extLst>
                        <a:ext uri="{9D8B030D-6E8A-4147-A177-3AD203B41FA5}">
                          <a16:colId xmlns:a16="http://schemas.microsoft.com/office/drawing/2014/main" val="409061860"/>
                        </a:ext>
                      </a:extLst>
                    </a:gridCol>
                    <a:gridCol w="1833772">
                      <a:extLst>
                        <a:ext uri="{9D8B030D-6E8A-4147-A177-3AD203B41FA5}">
                          <a16:colId xmlns:a16="http://schemas.microsoft.com/office/drawing/2014/main" val="5654800"/>
                        </a:ext>
                      </a:extLst>
                    </a:gridCol>
                    <a:gridCol w="1638461">
                      <a:extLst>
                        <a:ext uri="{9D8B030D-6E8A-4147-A177-3AD203B41FA5}">
                          <a16:colId xmlns:a16="http://schemas.microsoft.com/office/drawing/2014/main" val="1948685968"/>
                        </a:ext>
                      </a:extLst>
                    </a:gridCol>
                    <a:gridCol w="1649312">
                      <a:extLst>
                        <a:ext uri="{9D8B030D-6E8A-4147-A177-3AD203B41FA5}">
                          <a16:colId xmlns:a16="http://schemas.microsoft.com/office/drawing/2014/main" val="3806038924"/>
                        </a:ext>
                      </a:extLst>
                    </a:gridCol>
                    <a:gridCol w="1822923">
                      <a:extLst>
                        <a:ext uri="{9D8B030D-6E8A-4147-A177-3AD203B41FA5}">
                          <a16:colId xmlns:a16="http://schemas.microsoft.com/office/drawing/2014/main" val="808905702"/>
                        </a:ext>
                      </a:extLst>
                    </a:gridCol>
                  </a:tblGrid>
                  <a:tr h="85776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/>
                            <a:t>Parameter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Typical Value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/>
                            <a:t>Uncertainty</a:t>
                          </a:r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Units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/>
                            <a:t>W</a:t>
                          </a:r>
                          <a:r>
                            <a:rPr lang="en-US" sz="1100"/>
                            <a:t>X</a:t>
                          </a:r>
                          <a:endParaRPr lang="en-US" sz="180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/>
                            <a:t>W</a:t>
                          </a:r>
                          <a:r>
                            <a:rPr lang="en-US" sz="1100"/>
                            <a:t>G</a:t>
                          </a:r>
                          <a:endParaRPr lang="en-US" sz="1800"/>
                        </a:p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31493958"/>
                      </a:ext>
                    </a:extLst>
                  </a:tr>
                  <a:tr h="6031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t="-146465" r="-500351" b="-491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0.239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89369" t="-146465" r="-279070" b="-491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420664" t="-146465" r="-110701" b="-491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471906" t="-146465" r="-334" b="-4919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1939512"/>
                      </a:ext>
                    </a:extLst>
                  </a:tr>
                  <a:tr h="6031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246465" r="-500351" b="-391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9369" t="-246465" r="-279070" b="-391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0664" t="-246465" r="-110701" b="-391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1906" t="-246465" r="-334" b="-3919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999340"/>
                      </a:ext>
                    </a:extLst>
                  </a:tr>
                  <a:tr h="6031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346465" r="-500351" b="-291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45.18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9369" t="-346465" r="-279070" b="-291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0664" t="-346465" r="-110701" b="-291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1906" t="-346465" r="-334" b="-2919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3621651"/>
                      </a:ext>
                    </a:extLst>
                  </a:tr>
                  <a:tr h="651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13084" r="-500351" b="-170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4.4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9369" t="-413084" r="-279070" b="-170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lbf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0664" t="-413084" r="-110701" b="-170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1906" t="-413084" r="-334" b="-1700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294022"/>
                      </a:ext>
                    </a:extLst>
                  </a:tr>
                  <a:tr h="6031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554545" r="-500351" b="-838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5.063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89369" t="-554545" r="-279070" b="-838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in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20664" t="-554545" r="-110701" b="-838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71906" t="-554545" r="-334" b="-838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5011822"/>
                      </a:ext>
                    </a:extLst>
                  </a:tr>
                  <a:tr h="4969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G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790244" r="-400351" b="-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            psi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-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1906" t="-790244" r="-334" b="-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33346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D5D0035-FA32-8DEE-55B0-ED93EAF1FE6A}"/>
              </a:ext>
            </a:extLst>
          </p:cNvPr>
          <p:cNvSpPr txBox="1"/>
          <p:nvPr/>
        </p:nvSpPr>
        <p:spPr>
          <a:xfrm>
            <a:off x="751840" y="568960"/>
            <a:ext cx="9865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Aptos Display (Headings)"/>
              </a:rPr>
              <a:t>Our values from our first shakedown attempt before switching to calipers.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D95BC9-195C-3A47-1718-076B0EA1B50C}"/>
              </a:ext>
            </a:extLst>
          </p:cNvPr>
          <p:cNvSpPr/>
          <p:nvPr/>
        </p:nvSpPr>
        <p:spPr>
          <a:xfrm>
            <a:off x="10711342" y="241073"/>
            <a:ext cx="1087120" cy="5994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046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CE0EA-0B9F-FCAB-65E4-054B4ED37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0E375-6717-1A5B-71A3-91725AE0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90273"/>
            <a:ext cx="10332720" cy="1325563"/>
          </a:xfrm>
        </p:spPr>
        <p:txBody>
          <a:bodyPr>
            <a:normAutofit fontScale="90000"/>
          </a:bodyPr>
          <a:lstStyle/>
          <a:p>
            <a:r>
              <a:rPr lang="en-US"/>
              <a:t>This is our systematic relative uncertainty before switching to calipers to measure the rod radius.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8643D9-08DA-CB36-4168-E4AD06857E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73120" y="4185920"/>
                <a:ext cx="5257800" cy="98869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3.75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𝑠𝑖</m:t>
                          </m:r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3.96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𝑠𝑖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100=94.8%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8643D9-08DA-CB36-4168-E4AD06857E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73120" y="4185920"/>
                <a:ext cx="5257800" cy="98869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E04AD8-246A-981F-78C6-647DDA412963}"/>
                  </a:ext>
                </a:extLst>
              </p:cNvPr>
              <p:cNvSpPr txBox="1"/>
              <p:nvPr/>
            </p:nvSpPr>
            <p:spPr>
              <a:xfrm>
                <a:off x="1828800" y="2375098"/>
                <a:ext cx="8036560" cy="839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𝑠𝑦𝑠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100=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𝑆𝑦𝑠𝑡𝑒𝑚𝑎𝑡𝑖𝑐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𝑅𝑒𝑙𝑎𝑡𝑖𝑣𝑒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𝑈𝑛𝑐𝑒𝑟𝑡𝑎𝑖𝑛𝑡𝑦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E04AD8-246A-981F-78C6-647DDA412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375098"/>
                <a:ext cx="8036560" cy="8392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B756C9F-FF56-9AFA-CECD-99D3754226A6}"/>
              </a:ext>
            </a:extLst>
          </p:cNvPr>
          <p:cNvCxnSpPr>
            <a:cxnSpLocks/>
          </p:cNvCxnSpPr>
          <p:nvPr/>
        </p:nvCxnSpPr>
        <p:spPr>
          <a:xfrm>
            <a:off x="6096000" y="2936240"/>
            <a:ext cx="0" cy="124968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4D595B7-92C3-359F-4C75-DAF1E96D1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285" y="5457630"/>
            <a:ext cx="3305636" cy="14003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AB6604-B039-D6D8-2AB4-E9975DA054A3}"/>
              </a:ext>
            </a:extLst>
          </p:cNvPr>
          <p:cNvSpPr/>
          <p:nvPr/>
        </p:nvSpPr>
        <p:spPr>
          <a:xfrm>
            <a:off x="10881360" y="190273"/>
            <a:ext cx="1087120" cy="5994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487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C0B6-C769-CF52-AEE4-DBA24B245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Uncertainty Tree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5C7349-5988-3DA0-19CC-4B5A813D55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4253458"/>
              </p:ext>
            </p:extLst>
          </p:nvPr>
        </p:nvGraphicFramePr>
        <p:xfrm>
          <a:off x="838200" y="1371600"/>
          <a:ext cx="10515600" cy="5862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EF5E7DE-B93F-DEB5-1B20-7C020B1EEF4F}"/>
              </a:ext>
            </a:extLst>
          </p:cNvPr>
          <p:cNvSpPr/>
          <p:nvPr/>
        </p:nvSpPr>
        <p:spPr>
          <a:xfrm>
            <a:off x="10810240" y="268923"/>
            <a:ext cx="1087120" cy="5994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615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E973E-EDF5-447F-259E-2D4B291BB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Sensitivity Coefficients (Partial Derivatives)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392183-1FBE-A01C-B65F-938F1127E8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𝑑𝑖𝑠𝑐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𝑟𝑜𝑑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𝑟𝑜𝑑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𝑟𝑜𝑑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𝑟𝑜𝑑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𝜕𝜃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𝑑𝑖𝑠𝑐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𝑟𝑜𝑑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𝑟𝑜𝑑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/>
                  <a:t>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𝑟𝑜𝑑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𝑑𝑖𝑠𝑐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𝑟𝑜𝑑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𝑟𝑜𝑑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/>
                  <a:t>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𝑟𝑜𝑑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𝑑𝑖𝑠𝑐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𝑟𝑜𝑑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392183-1FBE-A01C-B65F-938F1127E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02050E1-30A7-E862-93E5-580C1196765E}"/>
              </a:ext>
            </a:extLst>
          </p:cNvPr>
          <p:cNvSpPr/>
          <p:nvPr/>
        </p:nvSpPr>
        <p:spPr>
          <a:xfrm>
            <a:off x="10911840" y="240031"/>
            <a:ext cx="1087120" cy="5994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543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CA7F4-2E53-1E83-12CA-32E0F31AF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78" y="142241"/>
            <a:ext cx="10958022" cy="1548448"/>
          </a:xfrm>
        </p:spPr>
        <p:txBody>
          <a:bodyPr/>
          <a:lstStyle/>
          <a:p>
            <a:r>
              <a:rPr lang="en-US"/>
              <a:t>6061 Aluminum was the closest specific aluminum alloy that could be found.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AAC106F-6296-E97D-CE42-A61104852CC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5778" y="6047566"/>
            <a:ext cx="2824942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>
                <a:hlinkClick r:id="rId2"/>
              </a:rPr>
              <a:t>*McMaster-Carr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>
                <a:hlinkClick r:id="rId2"/>
              </a:rPr>
              <a:t>**</a:t>
            </a:r>
            <a:r>
              <a:rPr lang="en-US" sz="1800" err="1">
                <a:hlinkClick r:id="rId2"/>
              </a:rPr>
              <a:t>Matweb</a:t>
            </a:r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8E6028-D464-3553-2A35-423448DFA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" y="3096662"/>
            <a:ext cx="8274373" cy="4256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9027CD-0963-C08A-97FA-FFF6DA7BE143}"/>
                  </a:ext>
                </a:extLst>
              </p:cNvPr>
              <p:cNvSpPr txBox="1"/>
              <p:nvPr/>
            </p:nvSpPr>
            <p:spPr>
              <a:xfrm>
                <a:off x="30480" y="3934177"/>
                <a:ext cx="10800080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/>
                  <a:t>Calculated Shear Modulus:			                         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𝟑𝟔𝟏𝟎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𝟐𝟑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𝒌𝒔𝒊</m:t>
                    </m:r>
                  </m:oMath>
                </a14:m>
                <a:endParaRPr lang="en-US" sz="2000" b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9027CD-0963-C08A-97FA-FFF6DA7BE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" y="3934177"/>
                <a:ext cx="10800080" cy="407099"/>
              </a:xfrm>
              <a:prstGeom prst="rect">
                <a:avLst/>
              </a:prstGeom>
              <a:blipFill>
                <a:blip r:embed="rId4"/>
                <a:stretch>
                  <a:fillRect l="-564" t="-4478" b="-26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70CF22F-D738-65A9-D271-095C6ECA99EA}"/>
              </a:ext>
            </a:extLst>
          </p:cNvPr>
          <p:cNvSpPr txBox="1"/>
          <p:nvPr/>
        </p:nvSpPr>
        <p:spPr>
          <a:xfrm>
            <a:off x="248920" y="1631353"/>
            <a:ext cx="477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 found that Aluminum rods are commonly made using 6061 Aluminum*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8AC8D7-84C3-3D4A-C107-3A44B39CE904}"/>
              </a:ext>
            </a:extLst>
          </p:cNvPr>
          <p:cNvSpPr txBox="1"/>
          <p:nvPr/>
        </p:nvSpPr>
        <p:spPr>
          <a:xfrm>
            <a:off x="248920" y="2437233"/>
            <a:ext cx="566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From </a:t>
            </a:r>
            <a:r>
              <a:rPr lang="en-US" sz="2800" err="1"/>
              <a:t>Matweb</a:t>
            </a:r>
            <a:r>
              <a:rPr lang="en-US" sz="2800"/>
              <a:t>* 6061-T6 Datasheet: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90F915-36F8-6C23-FECA-E54D2492C0E0}"/>
              </a:ext>
            </a:extLst>
          </p:cNvPr>
          <p:cNvSpPr/>
          <p:nvPr/>
        </p:nvSpPr>
        <p:spPr>
          <a:xfrm>
            <a:off x="10830560" y="142241"/>
            <a:ext cx="1087120" cy="5994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912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2DCA4-A467-28B8-27D1-5601B8A1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CB202-7F7E-22EF-0357-0CF5E1605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Calibration of weight scale used to find accuracy.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40318-2874-5B18-4694-BFC1E5115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2079"/>
            <a:ext cx="10515600" cy="3504883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F0AF671-6FA7-CF91-2C7C-EBA119D2DB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362534"/>
              </p:ext>
            </p:extLst>
          </p:nvPr>
        </p:nvGraphicFramePr>
        <p:xfrm>
          <a:off x="829733" y="1690688"/>
          <a:ext cx="10327640" cy="4486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E59ECA9-8FB8-CAF7-D8B2-5434EE6C5F93}"/>
              </a:ext>
            </a:extLst>
          </p:cNvPr>
          <p:cNvSpPr/>
          <p:nvPr/>
        </p:nvSpPr>
        <p:spPr>
          <a:xfrm>
            <a:off x="10810240" y="300833"/>
            <a:ext cx="1087120" cy="5994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426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12488-31A1-8DC2-B3C5-7CF0DBD94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364529"/>
            <a:ext cx="10515600" cy="1325563"/>
          </a:xfrm>
        </p:spPr>
        <p:txBody>
          <a:bodyPr/>
          <a:lstStyle/>
          <a:p>
            <a:r>
              <a:rPr lang="en-US"/>
              <a:t>Steps to derive the Shear Modulus Equation used for our DRE.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2D4E72-0B15-2A55-D5D1-849330DEE386}"/>
              </a:ext>
            </a:extLst>
          </p:cNvPr>
          <p:cNvSpPr/>
          <p:nvPr/>
        </p:nvSpPr>
        <p:spPr>
          <a:xfrm>
            <a:off x="10911840" y="230188"/>
            <a:ext cx="1087120" cy="5994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026" name="Picture 2" descr="Shear Modulus: Definition, Values, and Examples | Xometry">
            <a:extLst>
              <a:ext uri="{FF2B5EF4-FFF2-40B4-BE49-F238E27FC236}">
                <a16:creationId xmlns:a16="http://schemas.microsoft.com/office/drawing/2014/main" id="{E3D527F3-5AFF-6D14-6AEF-004A239B3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3280" y="1088124"/>
            <a:ext cx="2843445" cy="2843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5973A6E2-746D-C55A-8B2C-66FB5804F1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3160567"/>
                  </p:ext>
                </p:extLst>
              </p:nvPr>
            </p:nvGraphicFramePr>
            <p:xfrm>
              <a:off x="-2040805" y="2023197"/>
              <a:ext cx="8128000" cy="41708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908800">
                      <a:extLst>
                        <a:ext uri="{9D8B030D-6E8A-4147-A177-3AD203B41FA5}">
                          <a16:colId xmlns:a16="http://schemas.microsoft.com/office/drawing/2014/main" val="3745676135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8504036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Τ</m:t>
                                        </m:r>
                                      </m:e>
                                      <m:sub>
                                        <m:r>
                                          <a:rPr lang="en-US" sz="2800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b>
                                        <m:r>
                                          <a:rPr lang="en-US" sz="2800" b="0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2800" dirty="0"/>
                        </a:p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/>
                            <a:t>(1)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25203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smtClean="0">
                                            <a:latin typeface="Cambria Math" panose="02040503050406030204" pitchFamily="18" charset="0"/>
                                          </a:rPr>
                                          <m:t>tan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800" b="0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dirty="0"/>
                        </a:p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/>
                            <a:t>(2)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12899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dirty="0"/>
                        </a:p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dirty="0"/>
                            <a:t>(3)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53593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5973A6E2-746D-C55A-8B2C-66FB5804F1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3160567"/>
                  </p:ext>
                </p:extLst>
              </p:nvPr>
            </p:nvGraphicFramePr>
            <p:xfrm>
              <a:off x="-2040805" y="2023197"/>
              <a:ext cx="8128000" cy="41708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908800">
                      <a:extLst>
                        <a:ext uri="{9D8B030D-6E8A-4147-A177-3AD203B41FA5}">
                          <a16:colId xmlns:a16="http://schemas.microsoft.com/office/drawing/2014/main" val="3745676135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850403688"/>
                        </a:ext>
                      </a:extLst>
                    </a:gridCol>
                  </a:tblGrid>
                  <a:tr h="13890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r="-17637" b="-2008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/>
                            <a:t>(1)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2520374"/>
                      </a:ext>
                    </a:extLst>
                  </a:tr>
                  <a:tr h="14003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t="-98701" r="-17637" b="-98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/>
                            <a:t>(2)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1289935"/>
                      </a:ext>
                    </a:extLst>
                  </a:tr>
                  <a:tr h="1381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t="-202203" r="-17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/>
                            <a:t>(3)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53593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9ED1C8C-54BE-D9B4-82CB-C33490DCF5C9}"/>
                  </a:ext>
                </a:extLst>
              </p:cNvPr>
              <p:cNvSpPr txBox="1"/>
              <p:nvPr/>
            </p:nvSpPr>
            <p:spPr>
              <a:xfrm>
                <a:off x="7315202" y="4309408"/>
                <a:ext cx="602487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sz="2800">
                    <a:latin typeface="+mj-lt"/>
                  </a:rPr>
                  <a:t>: Shear Stress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sz="2800">
                    <a:latin typeface="+mj-lt"/>
                    <a:ea typeface="Cambria Math" panose="02040503050406030204" pitchFamily="18" charset="0"/>
                  </a:rPr>
                  <a:t> :</a:t>
                </a:r>
                <a:r>
                  <a:rPr lang="en-US" sz="2800">
                    <a:latin typeface="+mj-lt"/>
                  </a:rPr>
                  <a:t> Shear Strain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9ED1C8C-54BE-D9B4-82CB-C33490DCF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2" y="4309408"/>
                <a:ext cx="6024878" cy="954107"/>
              </a:xfrm>
              <a:prstGeom prst="rect">
                <a:avLst/>
              </a:prstGeom>
              <a:blipFill>
                <a:blip r:embed="rId6"/>
                <a:stretch>
                  <a:fillRect t="-6410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ECBCBB53-62C2-43C3-7D0A-39FD2353E677}"/>
              </a:ext>
            </a:extLst>
          </p:cNvPr>
          <p:cNvSpPr/>
          <p:nvPr/>
        </p:nvSpPr>
        <p:spPr>
          <a:xfrm>
            <a:off x="10911840" y="5894031"/>
            <a:ext cx="1087120" cy="5994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08B354-83D2-1CF8-BDC3-789CCC5EF7D4}"/>
              </a:ext>
            </a:extLst>
          </p:cNvPr>
          <p:cNvSpPr txBox="1"/>
          <p:nvPr/>
        </p:nvSpPr>
        <p:spPr>
          <a:xfrm>
            <a:off x="853440" y="3866547"/>
            <a:ext cx="20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E7FFF1-B309-0A05-E32B-0315D691599C}"/>
              </a:ext>
            </a:extLst>
          </p:cNvPr>
          <p:cNvSpPr txBox="1"/>
          <p:nvPr/>
        </p:nvSpPr>
        <p:spPr>
          <a:xfrm>
            <a:off x="71120" y="6488668"/>
            <a:ext cx="416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 Small-angle approximation assumed</a:t>
            </a:r>
          </a:p>
        </p:txBody>
      </p:sp>
    </p:spTree>
    <p:extLst>
      <p:ext uri="{BB962C8B-B14F-4D97-AF65-F5344CB8AC3E}">
        <p14:creationId xmlns:p14="http://schemas.microsoft.com/office/powerpoint/2010/main" val="151423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CBC9BA6E-FD63-CC1C-D282-E2FBDAC04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33460" y="1182384"/>
            <a:ext cx="5655712" cy="507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BCFB91-5D74-CB9A-0A82-DE71CE395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06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/>
              <a:t>Hang a known mass off the disk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C95D31-F73A-1486-FA88-07B071092140}"/>
                  </a:ext>
                </a:extLst>
              </p:cNvPr>
              <p:cNvSpPr txBox="1"/>
              <p:nvPr/>
            </p:nvSpPr>
            <p:spPr>
              <a:xfrm>
                <a:off x="268668" y="5131657"/>
                <a:ext cx="16494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>
                    <a:solidFill>
                      <a:schemeClr val="tx1"/>
                    </a:solidFill>
                  </a:rPr>
                  <a:t>Force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80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C95D31-F73A-1486-FA88-07B071092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68" y="5131657"/>
                <a:ext cx="1649437" cy="523220"/>
              </a:xfrm>
              <a:prstGeom prst="rect">
                <a:avLst/>
              </a:prstGeom>
              <a:blipFill>
                <a:blip r:embed="rId4"/>
                <a:stretch>
                  <a:fillRect l="-7380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A355C5A-C535-4CFA-A48D-DB17D28F5376}"/>
              </a:ext>
            </a:extLst>
          </p:cNvPr>
          <p:cNvCxnSpPr>
            <a:cxnSpLocks/>
          </p:cNvCxnSpPr>
          <p:nvPr/>
        </p:nvCxnSpPr>
        <p:spPr>
          <a:xfrm>
            <a:off x="1918105" y="5393267"/>
            <a:ext cx="17818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A37A285-2676-D96C-64FF-DF8357248944}"/>
              </a:ext>
            </a:extLst>
          </p:cNvPr>
          <p:cNvSpPr/>
          <p:nvPr/>
        </p:nvSpPr>
        <p:spPr>
          <a:xfrm>
            <a:off x="10810240" y="173408"/>
            <a:ext cx="1087120" cy="5994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998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4B73E-8258-E300-8FCE-1DE3D1BD7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A0C179-A89E-497B-821A-3268030C8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40021" y="1283984"/>
            <a:ext cx="5655712" cy="507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932B5B-1F31-D2D1-7BB0-37E5A2DE7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" y="167327"/>
            <a:ext cx="10515600" cy="1325563"/>
          </a:xfrm>
        </p:spPr>
        <p:txBody>
          <a:bodyPr/>
          <a:lstStyle/>
          <a:p>
            <a:r>
              <a:rPr lang="en-US"/>
              <a:t>Use a disk with tick marks to measure the degree change.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D02989-38D3-8FCB-3127-D58609ED7589}"/>
              </a:ext>
            </a:extLst>
          </p:cNvPr>
          <p:cNvSpPr txBox="1"/>
          <p:nvPr/>
        </p:nvSpPr>
        <p:spPr>
          <a:xfrm>
            <a:off x="166647" y="1565816"/>
            <a:ext cx="30422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 Disk Reading (deg)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6075B4-2B08-BBC8-6295-FF8500296811}"/>
              </a:ext>
            </a:extLst>
          </p:cNvPr>
          <p:cNvCxnSpPr>
            <a:cxnSpLocks/>
          </p:cNvCxnSpPr>
          <p:nvPr/>
        </p:nvCxnSpPr>
        <p:spPr>
          <a:xfrm>
            <a:off x="2538683" y="1850541"/>
            <a:ext cx="670215" cy="5761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8F85DF-7360-BFB8-A9E7-F1F6BFA8D9FF}"/>
              </a:ext>
            </a:extLst>
          </p:cNvPr>
          <p:cNvCxnSpPr/>
          <p:nvPr/>
        </p:nvCxnSpPr>
        <p:spPr>
          <a:xfrm>
            <a:off x="6096000" y="2599267"/>
            <a:ext cx="1481363" cy="42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9DF349B-199D-333A-78FF-86E7F4AC04DD}"/>
              </a:ext>
            </a:extLst>
          </p:cNvPr>
          <p:cNvSpPr/>
          <p:nvPr/>
        </p:nvSpPr>
        <p:spPr>
          <a:xfrm>
            <a:off x="10881360" y="363061"/>
            <a:ext cx="1087120" cy="5994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661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75019-022B-E7C6-4160-18A4F8C28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92918C7-CD8E-7A05-414C-CAC3C3CEA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40021" y="1283984"/>
            <a:ext cx="5655712" cy="507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4A5F71-1266-8F6D-8FE0-0FA28365E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147427"/>
            <a:ext cx="10515600" cy="1325563"/>
          </a:xfrm>
        </p:spPr>
        <p:txBody>
          <a:bodyPr/>
          <a:lstStyle/>
          <a:p>
            <a:r>
              <a:rPr lang="en-US"/>
              <a:t>Measure the radius of the disk for the use in the Shear Modulus equation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A6D43D-CFE2-470F-AAA7-4A62DCD83F8E}"/>
              </a:ext>
            </a:extLst>
          </p:cNvPr>
          <p:cNvSpPr txBox="1"/>
          <p:nvPr/>
        </p:nvSpPr>
        <p:spPr>
          <a:xfrm>
            <a:off x="-108325" y="1578260"/>
            <a:ext cx="3042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 Disk Radius (in)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D0491613-6CEF-E256-63C2-0AEF3F57CE0A}"/>
              </a:ext>
            </a:extLst>
          </p:cNvPr>
          <p:cNvSpPr/>
          <p:nvPr/>
        </p:nvSpPr>
        <p:spPr>
          <a:xfrm rot="5400000">
            <a:off x="3413393" y="2812149"/>
            <a:ext cx="339824" cy="506731"/>
          </a:xfrm>
          <a:prstGeom prst="leftBrace">
            <a:avLst>
              <a:gd name="adj1" fmla="val 7972"/>
              <a:gd name="adj2" fmla="val 46783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6412724-8A4E-3984-6D97-F808854623AC}"/>
              </a:ext>
            </a:extLst>
          </p:cNvPr>
          <p:cNvCxnSpPr>
            <a:cxnSpLocks/>
          </p:cNvCxnSpPr>
          <p:nvPr/>
        </p:nvCxnSpPr>
        <p:spPr>
          <a:xfrm>
            <a:off x="2538683" y="1850541"/>
            <a:ext cx="1038907" cy="9764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BF8D337-DD6E-163F-CDD5-59639DF0C7E1}"/>
              </a:ext>
            </a:extLst>
          </p:cNvPr>
          <p:cNvCxnSpPr/>
          <p:nvPr/>
        </p:nvCxnSpPr>
        <p:spPr>
          <a:xfrm>
            <a:off x="6096000" y="2599267"/>
            <a:ext cx="1481363" cy="42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058965B-E40E-5108-19E9-864ACAF23F1C}"/>
              </a:ext>
            </a:extLst>
          </p:cNvPr>
          <p:cNvSpPr/>
          <p:nvPr/>
        </p:nvSpPr>
        <p:spPr>
          <a:xfrm>
            <a:off x="10759440" y="147427"/>
            <a:ext cx="1087120" cy="5994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033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03CE0-58C6-8D29-D742-9DBAA8635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A19E172-BD8E-4C38-7C89-0D9757935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40021" y="1283984"/>
            <a:ext cx="5655712" cy="507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24EFF5-DC87-8ACF-E3CA-8AD661182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56978"/>
            <a:ext cx="10515600" cy="1325563"/>
          </a:xfrm>
        </p:spPr>
        <p:txBody>
          <a:bodyPr/>
          <a:lstStyle/>
          <a:p>
            <a:r>
              <a:rPr lang="en-US"/>
              <a:t>Measure the rod length to include it as a measurand.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006090-8652-31B0-AB11-FA7D36F90BD8}"/>
              </a:ext>
            </a:extLst>
          </p:cNvPr>
          <p:cNvSpPr txBox="1"/>
          <p:nvPr/>
        </p:nvSpPr>
        <p:spPr>
          <a:xfrm rot="441126">
            <a:off x="4719361" y="2763274"/>
            <a:ext cx="2643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Rod Length (in)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F47CBA83-4BF0-54C2-C7CC-667D729EC2B5}"/>
              </a:ext>
            </a:extLst>
          </p:cNvPr>
          <p:cNvSpPr/>
          <p:nvPr/>
        </p:nvSpPr>
        <p:spPr>
          <a:xfrm rot="16705162">
            <a:off x="5807452" y="2132126"/>
            <a:ext cx="291554" cy="2702335"/>
          </a:xfrm>
          <a:prstGeom prst="rightBrace">
            <a:avLst>
              <a:gd name="adj1" fmla="val 98550"/>
              <a:gd name="adj2" fmla="val 40375"/>
            </a:avLst>
          </a:prstGeom>
          <a:ln w="666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6F2C65-A2A4-E626-49E3-DA768770D41F}"/>
              </a:ext>
            </a:extLst>
          </p:cNvPr>
          <p:cNvCxnSpPr/>
          <p:nvPr/>
        </p:nvCxnSpPr>
        <p:spPr>
          <a:xfrm>
            <a:off x="6096000" y="2599267"/>
            <a:ext cx="1481363" cy="42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4FB5FE7-69F4-4097-EFC2-B312BEF6E5D5}"/>
              </a:ext>
            </a:extLst>
          </p:cNvPr>
          <p:cNvSpPr/>
          <p:nvPr/>
        </p:nvSpPr>
        <p:spPr>
          <a:xfrm>
            <a:off x="10739120" y="251233"/>
            <a:ext cx="1087120" cy="5994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05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D13F9-6803-1EFB-1B0C-C36BC6330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FB7B771-C9F2-0B06-BF65-61330C5F4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40021" y="1283984"/>
            <a:ext cx="5655712" cy="507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E88A46-ED04-194D-329D-CA98B9D5F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760" y="335643"/>
            <a:ext cx="10515600" cy="1325563"/>
          </a:xfrm>
        </p:spPr>
        <p:txBody>
          <a:bodyPr/>
          <a:lstStyle/>
          <a:p>
            <a:r>
              <a:rPr lang="en-US"/>
              <a:t>Measure the rod radius with calipers for the equation.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D67E0EC-8316-5215-E266-2914FEA18CA6}"/>
              </a:ext>
            </a:extLst>
          </p:cNvPr>
          <p:cNvCxnSpPr>
            <a:cxnSpLocks/>
          </p:cNvCxnSpPr>
          <p:nvPr/>
        </p:nvCxnSpPr>
        <p:spPr>
          <a:xfrm flipH="1" flipV="1">
            <a:off x="6997065" y="3843962"/>
            <a:ext cx="839553" cy="442939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394889B-FDED-1E75-E3C9-0080C7BFF153}"/>
              </a:ext>
            </a:extLst>
          </p:cNvPr>
          <p:cNvSpPr txBox="1"/>
          <p:nvPr/>
        </p:nvSpPr>
        <p:spPr>
          <a:xfrm>
            <a:off x="7897706" y="4208546"/>
            <a:ext cx="2591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Rod Radius (in)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90F4E6-79C1-0069-03F9-4AD6041ACFD2}"/>
              </a:ext>
            </a:extLst>
          </p:cNvPr>
          <p:cNvCxnSpPr/>
          <p:nvPr/>
        </p:nvCxnSpPr>
        <p:spPr>
          <a:xfrm>
            <a:off x="6096000" y="2599267"/>
            <a:ext cx="1481363" cy="42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E503BC-50D7-5BF0-FB98-4619A01F2085}"/>
              </a:ext>
            </a:extLst>
          </p:cNvPr>
          <p:cNvCxnSpPr/>
          <p:nvPr/>
        </p:nvCxnSpPr>
        <p:spPr>
          <a:xfrm flipV="1">
            <a:off x="6951345" y="3819197"/>
            <a:ext cx="0" cy="247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45776781-2454-F5F6-6728-E4421CFBC4BD}"/>
              </a:ext>
            </a:extLst>
          </p:cNvPr>
          <p:cNvSpPr/>
          <p:nvPr/>
        </p:nvSpPr>
        <p:spPr>
          <a:xfrm>
            <a:off x="8770620" y="2065020"/>
            <a:ext cx="1714500" cy="16897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D05C47-C7E2-ABCD-3444-350D9111A048}"/>
              </a:ext>
            </a:extLst>
          </p:cNvPr>
          <p:cNvSpPr/>
          <p:nvPr/>
        </p:nvSpPr>
        <p:spPr>
          <a:xfrm>
            <a:off x="8770620" y="2065020"/>
            <a:ext cx="1714499" cy="1689735"/>
          </a:xfrm>
          <a:prstGeom prst="ellipse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E13EA6-C527-08CA-51AD-1BE9031FEAEB}"/>
              </a:ext>
            </a:extLst>
          </p:cNvPr>
          <p:cNvCxnSpPr>
            <a:cxnSpLocks/>
            <a:stCxn id="9" idx="4"/>
          </p:cNvCxnSpPr>
          <p:nvPr/>
        </p:nvCxnSpPr>
        <p:spPr>
          <a:xfrm flipV="1">
            <a:off x="9627870" y="2909887"/>
            <a:ext cx="0" cy="84486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BF6539C-36AC-DF50-CF40-079975B4C8EB}"/>
              </a:ext>
            </a:extLst>
          </p:cNvPr>
          <p:cNvSpPr/>
          <p:nvPr/>
        </p:nvSpPr>
        <p:spPr>
          <a:xfrm rot="4203745">
            <a:off x="7860984" y="2562807"/>
            <a:ext cx="112806" cy="1874991"/>
          </a:xfrm>
          <a:prstGeom prst="downArrow">
            <a:avLst>
              <a:gd name="adj1" fmla="val 50000"/>
              <a:gd name="adj2" fmla="val 4616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CD54BD-119A-281A-9618-45C4B9AFF82A}"/>
              </a:ext>
            </a:extLst>
          </p:cNvPr>
          <p:cNvSpPr/>
          <p:nvPr/>
        </p:nvSpPr>
        <p:spPr>
          <a:xfrm>
            <a:off x="10779760" y="335643"/>
            <a:ext cx="1087120" cy="5994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227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B3CB7-0651-4F3D-B955-507F3437B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2E89A-13C5-AC41-45F0-68C506E79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96042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https://www.researchgate.net/publication/334465619_MATERIALS_SCIENCE_AND_ENGINEERING</a:t>
            </a:r>
            <a:endParaRPr lang="en-US" dirty="0"/>
          </a:p>
          <a:p>
            <a:r>
              <a:rPr lang="en-US" dirty="0">
                <a:hlinkClick r:id="rId3"/>
              </a:rPr>
              <a:t>https://www.xometry.com/resources/3d-printing/what-is-shear-modulus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88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00B0DB69BB92459F2F6B0BBD446428" ma:contentTypeVersion="15" ma:contentTypeDescription="Create a new document." ma:contentTypeScope="" ma:versionID="9318b60c2708a4d25c139f725caf5945">
  <xsd:schema xmlns:xsd="http://www.w3.org/2001/XMLSchema" xmlns:xs="http://www.w3.org/2001/XMLSchema" xmlns:p="http://schemas.microsoft.com/office/2006/metadata/properties" xmlns:ns3="ded56482-0f3a-4559-94f7-a19d2268455d" xmlns:ns4="7d92c986-a8c3-4e98-af49-63881633457d" targetNamespace="http://schemas.microsoft.com/office/2006/metadata/properties" ma:root="true" ma:fieldsID="19f9f6d7dc02cc7ce8cb183dc85df28c" ns3:_="" ns4:_="">
    <xsd:import namespace="ded56482-0f3a-4559-94f7-a19d2268455d"/>
    <xsd:import namespace="7d92c986-a8c3-4e98-af49-63881633457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56482-0f3a-4559-94f7-a19d226845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92c986-a8c3-4e98-af49-63881633457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d56482-0f3a-4559-94f7-a19d2268455d" xsi:nil="true"/>
  </documentManagement>
</p:properties>
</file>

<file path=customXml/itemProps1.xml><?xml version="1.0" encoding="utf-8"?>
<ds:datastoreItem xmlns:ds="http://schemas.openxmlformats.org/officeDocument/2006/customXml" ds:itemID="{35CD1B99-DA58-49B7-88A0-FD5C76AF208A}">
  <ds:schemaRefs>
    <ds:schemaRef ds:uri="7d92c986-a8c3-4e98-af49-63881633457d"/>
    <ds:schemaRef ds:uri="ded56482-0f3a-4559-94f7-a19d226845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627069D-8C70-40A9-952C-32C4BF8EA4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53885-405A-4B30-8C12-6C823B377D53}">
  <ds:schemaRefs>
    <ds:schemaRef ds:uri="7d92c986-a8c3-4e98-af49-63881633457d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ded56482-0f3a-4559-94f7-a19d2268455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1433</Words>
  <Application>Microsoft Office PowerPoint</Application>
  <PresentationFormat>Widescreen</PresentationFormat>
  <Paragraphs>348</Paragraphs>
  <Slides>26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Aptos Display (Headings)</vt:lpstr>
      <vt:lpstr>Arial</vt:lpstr>
      <vt:lpstr>Cambria Math</vt:lpstr>
      <vt:lpstr>Comic Mono</vt:lpstr>
      <vt:lpstr>Office Theme</vt:lpstr>
      <vt:lpstr>Finding Shear Modulus With A Torsional Experiment</vt:lpstr>
      <vt:lpstr>A torsional beam tester was used to find the shear modulus of a metal rod.</vt:lpstr>
      <vt:lpstr>The following procedure was used to collect the experimental data.</vt:lpstr>
      <vt:lpstr>We started with a shear modulus equation that fit our apparatus to derive our Data Reduction Equation to fit with our measurands.</vt:lpstr>
      <vt:lpstr>After recording a value for each measurand from the data reduction equation, a resultant was found for shear modulus. </vt:lpstr>
      <vt:lpstr>The relative systematic uncertainty was found to be reasonable enough to proceed with multiple measurements.</vt:lpstr>
      <vt:lpstr>After 8 trials, multiple different deflection angles (deg) were measured to find the random uncertainty.</vt:lpstr>
      <vt:lpstr>After collecting the results from multiple trials, the random uncertainty was calculated.</vt:lpstr>
      <vt:lpstr>The deflection angle and random were the greatest sources of uncertainty.</vt:lpstr>
      <vt:lpstr>After taking multiple trials and accounting for the random uncertainty, the total relative uncertainty was calculated and divided by the shear modulus.</vt:lpstr>
      <vt:lpstr>We concluded with the total relative uncertainty deemed appropriate, that the shear modulus of the rod is 3.61±0.23 x 10^6  psi.</vt:lpstr>
      <vt:lpstr>The End</vt:lpstr>
      <vt:lpstr>Q/A Slides</vt:lpstr>
      <vt:lpstr>PowerPoint Presentation</vt:lpstr>
      <vt:lpstr>This is our systematic relative uncertainty before switching to calipers to measure the rod radius.</vt:lpstr>
      <vt:lpstr>Uncertainty Tree</vt:lpstr>
      <vt:lpstr>Sensitivity Coefficients (Partial Derivatives)</vt:lpstr>
      <vt:lpstr>6061 Aluminum was the closest specific aluminum alloy that could be found.</vt:lpstr>
      <vt:lpstr>Calibration of weight scale used to find accuracy.</vt:lpstr>
      <vt:lpstr>Steps to derive the Shear Modulus Equation used for our DRE.</vt:lpstr>
      <vt:lpstr>Hang a known mass off the disk</vt:lpstr>
      <vt:lpstr>Use a disk with tick marks to measure the degree change.</vt:lpstr>
      <vt:lpstr>Measure the radius of the disk for the use in the Shear Modulus equation</vt:lpstr>
      <vt:lpstr>Measure the rod length to include it as a measurand.</vt:lpstr>
      <vt:lpstr>Measure the rod radius with calipers for the equation.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Galloway, Evan</dc:creator>
  <cp:lastModifiedBy>Galloway, Evan</cp:lastModifiedBy>
  <cp:revision>4</cp:revision>
  <dcterms:created xsi:type="dcterms:W3CDTF">2025-12-10T13:47:58Z</dcterms:created>
  <dcterms:modified xsi:type="dcterms:W3CDTF">2026-01-19T17:21:43Z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0x0101008400B0DB69BB92459F2F6B0BBD446428</vt:lpwstr>
  </property>
</Properties>
</file>